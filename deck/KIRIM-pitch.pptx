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SINGHACKS 2026 · RIPPLE · AI-NATIVE BUSINESS ON XRPL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601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0" i="0">
                <a:solidFill>
                  <a:srgbClr val="D9D3C5"/>
                </a:solidFill>
                <a:latin typeface="Georgia"/>
              </a:rPr>
              <a:t>Kirim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B07A22"/>
                </a:solidFill>
                <a:latin typeface="Georgia"/>
              </a:rPr>
              <a:t>to send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77639"/>
            <a:ext cx="3657600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9B9483"/>
                </a:solidFill>
                <a:latin typeface="Segoe UI"/>
              </a:rPr>
              <a:t>AI-verified milestone payments on the XRP Ledger.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10">
                <a:solidFill>
                  <a:srgbClr val="7D766A"/>
                </a:solidFill>
                <a:latin typeface="Consolas"/>
              </a:rPr>
              <a:t>Kalai  ·  Xin Rong  ·  Su Myat</a:t>
            </a:r>
          </a:p>
        </p:txBody>
      </p:sp>
      <p:pic>
        <p:nvPicPr>
          <p:cNvPr id="10" name="Picture 9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208" y="5897880"/>
            <a:ext cx="997527" cy="2560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0133464" y="5879592"/>
            <a:ext cx="9525" cy="292608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3621" y="5879592"/>
            <a:ext cx="622099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4901" y="59161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92463" y="2542032"/>
            <a:ext cx="1188720" cy="1664208"/>
          </a:xfrm>
          <a:prstGeom prst="rect">
            <a:avLst/>
          </a:prstGeom>
          <a:noFill/>
          <a:ln w="20320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92463" y="2922422"/>
            <a:ext cx="1188720" cy="213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2463" y="3302812"/>
            <a:ext cx="1188720" cy="213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2463" y="3683203"/>
            <a:ext cx="1188720" cy="213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18927" y="1971446"/>
            <a:ext cx="28529" cy="2234793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25304" y="1971446"/>
            <a:ext cx="1283817" cy="28529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5499" y="1971446"/>
            <a:ext cx="23774" cy="35661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Construction project abandonment is a regional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50" b="0" i="0">
                <a:solidFill>
                  <a:srgbClr val="6A6356"/>
                </a:solidFill>
                <a:latin typeface="Segoe UI"/>
              </a:rPr>
              <a:t>49 of 581 major ASEAN infrastructure projects were cancelled or distressed after reaching financial closure.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3271418" cy="13716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3271418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27227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7A2E2E"/>
                </a:solidFill>
                <a:latin typeface="Georgia"/>
              </a:rPr>
              <a:t>8.4%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27227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cancelled or distressed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0138" y="2514600"/>
            <a:ext cx="3271418" cy="13716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0138" y="2514600"/>
            <a:ext cx="3271418" cy="45720"/>
          </a:xfrm>
          <a:prstGeom prst="rect">
            <a:avLst/>
          </a:prstGeom>
          <a:solidFill>
            <a:srgbClr val="1713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4458" y="2807208"/>
            <a:ext cx="27227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17130D"/>
                </a:solidFill>
                <a:latin typeface="Georgia"/>
              </a:rPr>
              <a:t>581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4458" y="3474720"/>
            <a:ext cx="27227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major projects tracked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2514600"/>
            <a:ext cx="3271418" cy="13716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2514600"/>
            <a:ext cx="3271418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1636" y="2807208"/>
            <a:ext cx="27227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7A2E2E"/>
                </a:solidFill>
                <a:latin typeface="Georgia"/>
              </a:rPr>
              <a:t>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3474720"/>
            <a:ext cx="27227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did not get built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206240"/>
            <a:ext cx="10545775" cy="123444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434840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 i="0">
                <a:solidFill>
                  <a:srgbClr val="D9D3C5"/>
                </a:solidFill>
                <a:latin typeface="Georgia"/>
              </a:rPr>
              <a:t>When progress and the use of funds cannot be verified, the client carries the risk.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9B9483"/>
                </a:solidFill>
                <a:latin typeface="Segoe UI"/>
              </a:rPr>
              <a:t>Kirim links every payment to verified progress, and leaves a record of how the builder actually performed.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62356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8C8467"/>
                </a:solidFill>
                <a:latin typeface="Consolas"/>
              </a:rPr>
              <a:t>Source: OECD, Southeast Asia Investment Policy Perspectives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01 /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NOT A HYPOTHETICAL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45720" cy="2377440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371600"/>
            <a:ext cx="93268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3300" b="0" i="0">
                <a:solidFill>
                  <a:srgbClr val="D9D3C5"/>
                </a:solidFill>
                <a:latin typeface="Georgia"/>
              </a:rPr>
              <a:t>Uncompleted after years, Johor Bahru's ‘sick’ and ‘abandoned’ property projects leave buyers in limbo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9B9483"/>
                </a:solidFill>
                <a:latin typeface="Segoe UI"/>
              </a:rPr>
              <a:t>They bought property in Johor Bahru hoping to live or retire comfortably in Malaysia. After paying hefty sums, some are still waiting for their dream homes to be completed.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 spc="14">
                <a:solidFill>
                  <a:srgbClr val="B07A22"/>
                </a:solidFill>
                <a:latin typeface="Consolas"/>
              </a:rPr>
              <a:t>Channel NewsAsia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463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1">
                <a:solidFill>
                  <a:srgbClr val="B07A22"/>
                </a:solidFill>
                <a:latin typeface="Georgia"/>
              </a:rPr>
              <a:t>Buyers pay first and find out last. Every one of these started as a payment somebody released against work that was never finished.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02 /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310896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3200" b="0" i="0">
                <a:solidFill>
                  <a:srgbClr val="D9D3C5"/>
                </a:solidFill>
                <a:latin typeface="Georgia"/>
              </a:rPr>
              <a:t>How might we make construction payments in ASEAN safer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3200" b="0" i="0">
                <a:solidFill>
                  <a:srgbClr val="5E9B79"/>
                </a:solidFill>
                <a:latin typeface="Georgia"/>
              </a:rPr>
              <a:t>by releasing funds only when verified progress is achieved?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5711799" y="5343753"/>
            <a:ext cx="768096" cy="833932"/>
          </a:xfrm>
          <a:prstGeom prst="homePlate">
            <a:avLst/>
          </a:prstGeom>
          <a:noFill/>
          <a:ln w="20320">
            <a:solidFill>
              <a:srgbClr val="0F0D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5942228" y="5804611"/>
            <a:ext cx="208483" cy="35112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051956" y="5694883"/>
            <a:ext cx="351129" cy="35112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HOW IT WORKS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100" b="0" i="0">
                <a:solidFill>
                  <a:srgbClr val="17130D"/>
                </a:solidFill>
                <a:latin typeface="Georgia"/>
              </a:rPr>
              <a:t>Money moves first. Verification comes later, if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1691640"/>
            <a:ext cx="5852160" cy="566928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9888" y="179222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17130D"/>
                </a:solidFill>
                <a:latin typeface="Segoe UI"/>
              </a:rPr>
              <a:t>Developer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A6356"/>
                </a:solidFill>
                <a:latin typeface="Segoe UI"/>
              </a:rPr>
              <a:t>Sells the units before they are completed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382012"/>
            <a:ext cx="5852160" cy="566928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24825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17130D"/>
                </a:solidFill>
                <a:latin typeface="Segoe UI"/>
              </a:rPr>
              <a:t>Buyer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A6356"/>
                </a:solidFill>
                <a:latin typeface="Segoe UI"/>
              </a:rPr>
              <a:t>Starts paying before the building is finished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72384"/>
            <a:ext cx="5852160" cy="566928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317296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17130D"/>
                </a:solidFill>
                <a:latin typeface="Segoe UI"/>
              </a:rPr>
              <a:t>Bank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A6356"/>
                </a:solidFill>
                <a:latin typeface="Segoe UI"/>
              </a:rPr>
              <a:t>Mortgage money is paid out well before completion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62756"/>
            <a:ext cx="5852160" cy="566928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386334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17130D"/>
                </a:solidFill>
                <a:latin typeface="Segoe UI"/>
              </a:rPr>
              <a:t>Escrow account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A6356"/>
                </a:solidFill>
                <a:latin typeface="Segoe UI"/>
              </a:rPr>
              <a:t>Holds the funds, but the controls are fragmented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453128"/>
            <a:ext cx="5852160" cy="566928"/>
          </a:xfrm>
          <a:prstGeom prst="rect">
            <a:avLst/>
          </a:prstGeom>
          <a:solidFill>
            <a:srgbClr val="EFDAD2"/>
          </a:solidFill>
          <a:ln w="9525">
            <a:solidFill>
              <a:srgbClr val="A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4553712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A23B2C"/>
                </a:solidFill>
                <a:latin typeface="Segoe UI"/>
              </a:rPr>
              <a:t>Developer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A2E2E"/>
                </a:solidFill>
                <a:latin typeface="Segoe UI"/>
              </a:rPr>
              <a:t>Has wide scope to use the cash as general funding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5143500"/>
            <a:ext cx="5852160" cy="566928"/>
          </a:xfrm>
          <a:prstGeom prst="rect">
            <a:avLst/>
          </a:prstGeom>
          <a:solidFill>
            <a:srgbClr val="EFDAD2"/>
          </a:solidFill>
          <a:ln w="9525">
            <a:solidFill>
              <a:srgbClr val="A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524408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A23B2C"/>
                </a:solidFill>
                <a:latin typeface="Segoe UI"/>
              </a:rPr>
              <a:t>Buyer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A2E2E"/>
                </a:solidFill>
                <a:latin typeface="Segoe UI"/>
              </a:rPr>
              <a:t>Carries the risk if construction fails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5833872"/>
            <a:ext cx="5852160" cy="566928"/>
          </a:xfrm>
          <a:prstGeom prst="rect">
            <a:avLst/>
          </a:prstGeom>
          <a:solidFill>
            <a:srgbClr val="EFDAD2"/>
          </a:solidFill>
          <a:ln w="9525">
            <a:solidFill>
              <a:srgbClr val="A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9888" y="593445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A23B2C"/>
                </a:solidFill>
                <a:latin typeface="Segoe UI"/>
              </a:rPr>
              <a:t>Result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A2E2E"/>
                </a:solidFill>
                <a:latin typeface="Segoe UI"/>
              </a:rPr>
              <a:t>Work stalls after the buyer has already paid</a:t>
            </a:r>
          </a:p>
        </p:txBody>
      </p:sp>
      <p:sp>
        <p:nvSpPr>
          <p:cNvPr id="19" name="Oval 18"/>
          <p:cNvSpPr/>
          <p:nvPr/>
        </p:nvSpPr>
        <p:spPr>
          <a:xfrm>
            <a:off x="8006486" y="2337206"/>
            <a:ext cx="903427" cy="903427"/>
          </a:xfrm>
          <a:prstGeom prst="ellipse">
            <a:avLst/>
          </a:prstGeom>
          <a:noFill/>
          <a:ln w="20320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6312" y="2503627"/>
            <a:ext cx="30906" cy="309067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58200" y="2777032"/>
            <a:ext cx="261518" cy="30906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365760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350" b="0" i="0">
                <a:solidFill>
                  <a:srgbClr val="6A6356"/>
                </a:solidFill>
                <a:latin typeface="Segoe UI"/>
              </a:rPr>
              <a:t>Every safeguard here depends on somebody checking, and nobody is paid to check often enough.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600" b="0" i="1">
                <a:solidFill>
                  <a:srgbClr val="A23B2C"/>
                </a:solidFill>
                <a:latin typeface="Georgia"/>
              </a:rPr>
              <a:t>By the time it is obvious, the money has gone.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 · CURRENT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03 / TODAY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NEW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0" i="0">
                <a:solidFill>
                  <a:srgbClr val="17130D"/>
                </a:solidFill>
                <a:latin typeface="Georgia"/>
              </a:rPr>
              <a:t>The same sale. The money just cannot leave until the work exists.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1691640"/>
            <a:ext cx="5852160" cy="566928"/>
          </a:xfrm>
          <a:prstGeom prst="rect">
            <a:avLst/>
          </a:prstGeom>
          <a:solidFill>
            <a:srgbClr val="F1ECE1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9888" y="179222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8C8467"/>
                </a:solidFill>
                <a:latin typeface="Segoe UI"/>
              </a:rPr>
              <a:t>Developer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Sells the units before they are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810512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00" b="0" i="0" spc="10">
                <a:solidFill>
                  <a:srgbClr val="8C8467"/>
                </a:solidFill>
                <a:latin typeface="Consolas"/>
              </a:rPr>
              <a:t>unchanged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382012"/>
            <a:ext cx="5852160" cy="566928"/>
          </a:xfrm>
          <a:prstGeom prst="rect">
            <a:avLst/>
          </a:prstGeom>
          <a:solidFill>
            <a:srgbClr val="F1ECE1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24825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8C8467"/>
                </a:solidFill>
                <a:latin typeface="Segoe UI"/>
              </a:rPr>
              <a:t>Buyer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Pays a deposit up 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500884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00" b="0" i="0" spc="10">
                <a:solidFill>
                  <a:srgbClr val="8C8467"/>
                </a:solidFill>
                <a:latin typeface="Consolas"/>
              </a:rPr>
              <a:t>unchanged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072384"/>
            <a:ext cx="5852160" cy="566928"/>
          </a:xfrm>
          <a:prstGeom prst="rect">
            <a:avLst/>
          </a:prstGeom>
          <a:solidFill>
            <a:srgbClr val="DCE6E0"/>
          </a:solidFill>
          <a:ln w="9525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317296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2C5A4E"/>
                </a:solidFill>
                <a:latin typeface="Segoe UI"/>
              </a:rPr>
              <a:t>Bank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14A3C"/>
                </a:solidFill>
                <a:latin typeface="Segoe UI"/>
              </a:rPr>
              <a:t>Puts the full loan into escrow, not into the developer's account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762756"/>
            <a:ext cx="5852160" cy="566928"/>
          </a:xfrm>
          <a:prstGeom prst="rect">
            <a:avLst/>
          </a:prstGeom>
          <a:solidFill>
            <a:srgbClr val="DCE6E0"/>
          </a:solidFill>
          <a:ln w="9525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386334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2C5A4E"/>
                </a:solidFill>
                <a:latin typeface="Segoe UI"/>
              </a:rPr>
              <a:t>The escrow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14A3C"/>
                </a:solidFill>
                <a:latin typeface="Segoe UI"/>
              </a:rPr>
              <a:t>Locked on a public ledger. Nobody can move it, including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453128"/>
            <a:ext cx="5852160" cy="566928"/>
          </a:xfrm>
          <a:prstGeom prst="rect">
            <a:avLst/>
          </a:prstGeom>
          <a:solidFill>
            <a:srgbClr val="DCE6E0"/>
          </a:solidFill>
          <a:ln w="9525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4553712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2C5A4E"/>
                </a:solidFill>
                <a:latin typeface="Segoe UI"/>
              </a:rPr>
              <a:t>The agent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14A3C"/>
                </a:solidFill>
                <a:latin typeface="Segoe UI"/>
              </a:rPr>
              <a:t>Buys independent checks and reconciles them against the agreed drawings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5143500"/>
            <a:ext cx="5852160" cy="566928"/>
          </a:xfrm>
          <a:prstGeom prst="rect">
            <a:avLst/>
          </a:prstGeom>
          <a:solidFill>
            <a:srgbClr val="DCE6E0"/>
          </a:solidFill>
          <a:ln w="9525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9888" y="524408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2C5A4E"/>
                </a:solidFill>
                <a:latin typeface="Segoe UI"/>
              </a:rPr>
              <a:t>Release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14A3C"/>
                </a:solidFill>
                <a:latin typeface="Segoe UI"/>
              </a:rPr>
              <a:t>Conforming evidence pays in about four seconds. Anything else holds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833872"/>
            <a:ext cx="5852160" cy="566928"/>
          </a:xfrm>
          <a:prstGeom prst="rect">
            <a:avLst/>
          </a:prstGeom>
          <a:solidFill>
            <a:srgbClr val="DCE6E0"/>
          </a:solidFill>
          <a:ln w="9525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593445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250" b="1" i="0">
                <a:solidFill>
                  <a:srgbClr val="2C5A4E"/>
                </a:solidFill>
                <a:latin typeface="Segoe UI"/>
              </a:rPr>
              <a:t>Refund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14A3C"/>
                </a:solidFill>
                <a:latin typeface="Segoe UI"/>
              </a:rPr>
              <a:t>A stage that is never built returns the money on its own. No lawsuit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4035" y="2717596"/>
            <a:ext cx="808329" cy="594360"/>
          </a:xfrm>
          <a:prstGeom prst="rect">
            <a:avLst/>
          </a:prstGeom>
          <a:noFill/>
          <a:ln w="20320">
            <a:solidFill>
              <a:srgbClr val="DCE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lock Arc 21"/>
          <p:cNvSpPr/>
          <p:nvPr/>
        </p:nvSpPr>
        <p:spPr>
          <a:xfrm>
            <a:off x="8172907" y="2337206"/>
            <a:ext cx="570585" cy="618134"/>
          </a:xfrm>
          <a:prstGeom prst="blockArc">
            <a:avLst/>
          </a:prstGeom>
          <a:noFill/>
          <a:ln w="20320">
            <a:solidFill>
              <a:srgbClr val="DCE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40369" y="2919679"/>
            <a:ext cx="35661" cy="190195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80" y="365760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350" b="0" i="0">
                <a:solidFill>
                  <a:srgbClr val="6A6356"/>
                </a:solidFill>
                <a:latin typeface="Segoe UI"/>
              </a:rPr>
              <a:t>Nothing about how the market sells or how buyers pay has to change. Only the destination of the money on day one.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600" b="0" i="1">
                <a:solidFill>
                  <a:srgbClr val="2C5A4E"/>
                </a:solidFill>
                <a:latin typeface="Georgia"/>
              </a:rPr>
              <a:t>Two steps unchanged. Five that matter.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 · WITH KIRIM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04 / THE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WHAT CHANGES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100" b="0" i="0">
                <a:solidFill>
                  <a:srgbClr val="17130D"/>
                </a:solidFill>
                <a:latin typeface="Georgia"/>
              </a:rPr>
              <a:t>Every number here came off the ledger, not a projection.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46503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Time to release a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8928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weeks of chasing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928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about 4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2219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317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Cost of holding 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500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3–5% to an escrow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500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0.8%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791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7889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Cost of checking the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8072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a site visit and a surveyor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072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US$0.48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363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461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Builder is paid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2644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on 30 to 60 day terms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2644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on 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5935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033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If a stage is never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7216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dispute, or write it 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7216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refunded automatically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0507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If a claim is rejected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41788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the job stops, lawyers 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1788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fix it and resubmit, same escrow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5079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Builder's reputation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636007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a folder of photos and hearsay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63600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on their own ledger account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65191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257800"/>
            <a:ext cx="10545775" cy="868680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440680"/>
            <a:ext cx="99971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i="1">
                <a:solidFill>
                  <a:srgbClr val="2C5A4E"/>
                </a:solidFill>
                <a:latin typeface="Georgia"/>
              </a:rPr>
              <a:t>Three of the six stages in our demo end with no payment at all.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 payment that correctly does not happen is what makes an autonomous payment system worth trusting.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05 / BENEFITS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>
                <a:solidFill>
                  <a:srgbClr val="D9D3C5"/>
                </a:solidFill>
                <a:latin typeface="Georgia"/>
              </a:rPr>
              <a:t>Watch a stage pay itself. Then watch one refuse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96012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45720" cy="960120"/>
          </a:xfrm>
          <a:prstGeom prst="rect">
            <a:avLst/>
          </a:prstGeom>
          <a:solidFill>
            <a:srgbClr val="5E9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488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5E9B79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39696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50" b="1" i="0">
                <a:solidFill>
                  <a:srgbClr val="D9D3C5"/>
                </a:solidFill>
                <a:latin typeface="Segoe UI"/>
              </a:rPr>
              <a:t>Foundations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9B9483"/>
                </a:solidFill>
                <a:latin typeface="Segoe UI"/>
              </a:rPr>
              <a:t>Evidence checks out. Nobody approves it. Paid in seconds.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108960"/>
            <a:ext cx="10545775" cy="96012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108960"/>
            <a:ext cx="45720" cy="960120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918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A23B2C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82696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50" b="1" i="0">
                <a:solidFill>
                  <a:srgbClr val="D9D3C5"/>
                </a:solidFill>
                <a:latin typeface="Segoe UI"/>
              </a:rPr>
              <a:t>Plumbing and interiors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9B9483"/>
                </a:solidFill>
                <a:latin typeface="Segoe UI"/>
              </a:rPr>
              <a:t>Recycled photo, edited photo, over-billed by US$20,000, 72% of the agreed scope built. Refused, and the owner confirms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60"/>
            <a:ext cx="10545775" cy="96012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251960"/>
            <a:ext cx="45720" cy="960120"/>
          </a:xfrm>
          <a:prstGeom prst="rect">
            <a:avLst/>
          </a:prstGeom>
          <a:solidFill>
            <a:srgbClr val="5E9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4348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5E9B79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25696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50" b="1" i="0">
                <a:solidFill>
                  <a:srgbClr val="D9D3C5"/>
                </a:solidFill>
                <a:latin typeface="Segoe UI"/>
              </a:rPr>
              <a:t>The same stage again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9B9483"/>
                </a:solidFill>
                <a:latin typeface="Segoe UI"/>
              </a:rPr>
              <a:t>Defect repaired, bill corrected, real photographs. The same locked money is released. Nobody pays twice.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5321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7150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Real transactions on the XRP Ledger testnet. Every hash is clickable.</a:t>
            </a:r>
          </a:p>
        </p:txBody>
      </p:sp>
      <p:pic>
        <p:nvPicPr>
          <p:cNvPr id="19" name="Picture 18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208" y="5669280"/>
            <a:ext cx="997527" cy="25603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133464" y="5650992"/>
            <a:ext cx="9525" cy="292608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3621" y="5650992"/>
            <a:ext cx="622099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84901" y="56875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06 /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