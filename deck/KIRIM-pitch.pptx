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7D766A"/>
                </a:solidFill>
                <a:latin typeface="Consolas"/>
              </a:rPr>
              <a:t>SINGHACKS 2026 · RIPPLE · AI-NATIVE BUSINESS ON XRPL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60120"/>
            <a:ext cx="10545775" cy="5715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8595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600" b="0" i="0">
                <a:solidFill>
                  <a:srgbClr val="D9D3C5"/>
                </a:solidFill>
                <a:latin typeface="Georgia"/>
              </a:rPr>
              <a:t>A trillion dollars was spent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4600" b="0" i="0">
                <a:solidFill>
                  <a:srgbClr val="D9D3C5"/>
                </a:solidFill>
                <a:latin typeface="Georgia"/>
              </a:rPr>
              <a:t>finishing homes people had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4600" b="0" i="0">
                <a:solidFill>
                  <a:srgbClr val="B07A22"/>
                </a:solidFill>
                <a:latin typeface="Georgia"/>
              </a:rPr>
              <a:t>already paid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600" b="0" i="0">
                <a:solidFill>
                  <a:srgbClr val="9B9483"/>
                </a:solidFill>
                <a:latin typeface="Segoe UI"/>
              </a:rPr>
              <a:t>The money was never missing. It sat in escrow the whole time. Somebody just had to decide it could be released — and that decision is still made by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257800"/>
            <a:ext cx="10545775" cy="5715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0" i="0">
                <a:solidFill>
                  <a:srgbClr val="D9D3C5"/>
                </a:solidFill>
                <a:latin typeface="Georgia"/>
              </a:rPr>
              <a:t>KIRIM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5742432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9B9483"/>
                </a:solidFill>
                <a:latin typeface="Segoe UI"/>
              </a:rPr>
              <a:t>Construction escrow, released by an agent that examines the evidence. Settled on the XRP Ledger.</a:t>
            </a:r>
          </a:p>
        </p:txBody>
      </p:sp>
      <p:pic>
        <p:nvPicPr>
          <p:cNvPr id="10" name="Picture 9" descr="rip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208" y="5897880"/>
            <a:ext cx="997527" cy="25603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133464" y="5879592"/>
            <a:ext cx="9525" cy="292608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ngha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3621" y="5879592"/>
            <a:ext cx="622099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84901" y="591616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00" b="0" i="0" spc="16">
                <a:solidFill>
                  <a:srgbClr val="7D766A"/>
                </a:solidFill>
                <a:latin typeface="Consolas"/>
              </a:rPr>
              <a:t>BUILT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92463" y="2359152"/>
            <a:ext cx="1188720" cy="1664208"/>
          </a:xfrm>
          <a:prstGeom prst="rect">
            <a:avLst/>
          </a:prstGeom>
          <a:noFill/>
          <a:ln w="20320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92463" y="2739542"/>
            <a:ext cx="1188720" cy="21396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92463" y="3119932"/>
            <a:ext cx="1188720" cy="21396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92463" y="3500323"/>
            <a:ext cx="1188720" cy="21396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18927" y="1788566"/>
            <a:ext cx="28529" cy="2234793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25304" y="1788566"/>
            <a:ext cx="1283817" cy="28529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15499" y="1788566"/>
            <a:ext cx="23774" cy="356616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966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17130D"/>
                </a:solidFill>
                <a:latin typeface="Georgia"/>
              </a:rPr>
              <a:t>Somebody pays before it exists.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2C5A4E"/>
                </a:solidFill>
                <a:latin typeface="Georgia"/>
              </a:rPr>
              <a:t>Somebody decides when that money is released.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880091" y="1552651"/>
            <a:ext cx="1057046" cy="777240"/>
          </a:xfrm>
          <a:prstGeom prst="rect">
            <a:avLst/>
          </a:prstGeom>
          <a:noFill/>
          <a:ln w="20320">
            <a:solidFill>
              <a:srgbClr val="DED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10035539" y="1055217"/>
            <a:ext cx="746150" cy="808329"/>
          </a:xfrm>
          <a:prstGeom prst="blockArc">
            <a:avLst/>
          </a:prstGeom>
          <a:noFill/>
          <a:ln w="20320">
            <a:solidFill>
              <a:srgbClr val="DED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85297" y="1816912"/>
            <a:ext cx="46634" cy="248716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17130D"/>
                </a:solidFill>
                <a:latin typeface="Georgia"/>
              </a:rPr>
              <a:t>85%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788920"/>
            <a:ext cx="23925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of new homes in China are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sold before they are built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794760"/>
            <a:ext cx="4861407" cy="5715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74320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17130D"/>
                </a:solidFill>
                <a:latin typeface="Georgia"/>
              </a:rPr>
              <a:t>50–70%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4767" y="2788920"/>
            <a:ext cx="23925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of pre-sale money sits in escrow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controlled by local government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07327" y="3794760"/>
            <a:ext cx="4861407" cy="5715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7A2E2E"/>
                </a:solidFill>
                <a:latin typeface="Georgia"/>
              </a:rPr>
              <a:t>US$300bn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206240"/>
            <a:ext cx="23925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of Evergrande liabilities — buyers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who paid in full got nothing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4861407" cy="5715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416052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0" i="0">
                <a:solidFill>
                  <a:srgbClr val="17130D"/>
                </a:solidFill>
                <a:latin typeface="Georgia"/>
              </a:rPr>
              <a:t>¥7tn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4767" y="4206240"/>
            <a:ext cx="239252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of state financing to finish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7.5m homes already paid for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7327" y="5212080"/>
            <a:ext cx="4861407" cy="5715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4577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0" i="1">
                <a:solidFill>
                  <a:srgbClr val="514A3C"/>
                </a:solidFill>
                <a:latin typeface="Georgia"/>
              </a:rPr>
              <a:t>The escrow already exists, at national scale. What fails is the release.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17920"/>
            <a:ext cx="10545775" cy="5715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7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01 /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7D766A"/>
                </a:solidFill>
                <a:latin typeface="Consolas"/>
              </a:rPr>
              <a:t>HOW IT WORKS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D9D3C5"/>
                </a:solidFill>
                <a:latin typeface="Georgia"/>
              </a:rPr>
              <a:t>A person decides, city by city. It fails in both directions.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4998567" cy="1965960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45720" cy="1965960"/>
          </a:xfrm>
          <a:prstGeom prst="rect">
            <a:avLst/>
          </a:prstGeom>
          <a:solidFill>
            <a:srgbClr val="B0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40864"/>
            <a:ext cx="444992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100" b="1" i="0" spc="14">
                <a:solidFill>
                  <a:srgbClr val="B07A22"/>
                </a:solidFill>
                <a:latin typeface="Consolas"/>
              </a:rPr>
              <a:t>TOO TIGHT</a:t>
            </a:r>
          </a:p>
          <a:p>
            <a:pPr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9B9483"/>
                </a:solidFill>
                <a:latin typeface="Segoe UI"/>
              </a:rPr>
              <a:t>2021 — cities froze withdrawals from escrow. Developers ran out of cash mid-build and construction stopped. A February 2022 framework was issued explicitly to “correct over-tightening”.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0167" y="2103120"/>
            <a:ext cx="4998567" cy="1965960"/>
          </a:xfrm>
          <a:prstGeom prst="rect">
            <a:avLst/>
          </a:prstGeom>
          <a:solidFill>
            <a:srgbClr val="1A1712"/>
          </a:solidFill>
          <a:ln w="9525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70167" y="2103120"/>
            <a:ext cx="45720" cy="1965960"/>
          </a:xfrm>
          <a:prstGeom prst="rect">
            <a:avLst/>
          </a:prstGeom>
          <a:solidFill>
            <a:srgbClr val="A2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2340864"/>
            <a:ext cx="4449927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100" b="1" i="0" spc="14">
                <a:solidFill>
                  <a:srgbClr val="A23B2C"/>
                </a:solidFill>
                <a:latin typeface="Consolas"/>
              </a:rPr>
              <a:t>TOO LOOSE</a:t>
            </a:r>
          </a:p>
          <a:p>
            <a:pPr>
              <a:lnSpc>
                <a:spcPct val="145000"/>
              </a:lnSpc>
              <a:spcAft>
                <a:spcPts val="0"/>
              </a:spcAft>
            </a:pPr>
            <a:r>
              <a:rPr sz="1350" b="0" i="0">
                <a:solidFill>
                  <a:srgbClr val="9B9483"/>
                </a:solidFill>
                <a:latin typeface="Segoe UI"/>
              </a:rPr>
              <a:t>Evergrande collapsed owing around US$300bn. Buyers who had paid in full were left with unfinished flats, and some stopped paying mortgages on homes that did not exist.</a:t>
            </a:r>
          </a:p>
        </p:txBody>
      </p:sp>
      <p:sp>
        <p:nvSpPr>
          <p:cNvPr id="11" name="Oval 10"/>
          <p:cNvSpPr/>
          <p:nvPr/>
        </p:nvSpPr>
        <p:spPr>
          <a:xfrm>
            <a:off x="943660" y="4555540"/>
            <a:ext cx="764438" cy="764438"/>
          </a:xfrm>
          <a:prstGeom prst="ellipse">
            <a:avLst/>
          </a:prstGeom>
          <a:noFill/>
          <a:ln w="20320">
            <a:solidFill>
              <a:srgbClr val="2621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15821" y="4696358"/>
            <a:ext cx="26151" cy="261518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25880" y="4927701"/>
            <a:ext cx="221284" cy="26151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4526280"/>
            <a:ext cx="9326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50" b="0" i="0">
                <a:solidFill>
                  <a:srgbClr val="9B9483"/>
                </a:solidFill>
                <a:latin typeface="Segoe UI"/>
              </a:rPr>
              <a:t>Release is a manual, discretionary decision, taken by officials who cannot possibly inspect every project, under rules that differ in every city.</a:t>
            </a: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sz="1700" b="0" i="1">
                <a:solidFill>
                  <a:srgbClr val="B07A22"/>
                </a:solidFill>
                <a:latin typeface="Georgia"/>
              </a:rPr>
              <a:t>Too slow and honest builders starve. Too loose and buyers lose homes they have already paid for.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6217920"/>
            <a:ext cx="10545775" cy="5715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KIRIM · CURRENT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02 /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600" b="0" i="0">
                <a:solidFill>
                  <a:srgbClr val="17130D"/>
                </a:solidFill>
                <a:latin typeface="Georgia"/>
              </a:rPr>
              <a:t>Release on evidence, not on somebody's judgement.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464993" cy="2331720"/>
          </a:xfrm>
          <a:prstGeom prst="rect">
            <a:avLst/>
          </a:prstGeom>
          <a:solidFill>
            <a:srgbClr val="FAF6EE"/>
          </a:solidFill>
          <a:ln w="9525">
            <a:solidFill>
              <a:srgbClr val="DED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2464993" cy="45720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6774" y="2765145"/>
            <a:ext cx="528523" cy="388620"/>
          </a:xfrm>
          <a:prstGeom prst="rect">
            <a:avLst/>
          </a:prstGeom>
          <a:noFill/>
          <a:ln w="20320">
            <a:solidFill>
              <a:srgbClr val="6A6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1244498" y="2516428"/>
            <a:ext cx="373075" cy="404164"/>
          </a:xfrm>
          <a:prstGeom prst="blockArc">
            <a:avLst/>
          </a:prstGeom>
          <a:noFill/>
          <a:ln w="20320">
            <a:solidFill>
              <a:srgbClr val="6A6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9377" y="2897276"/>
            <a:ext cx="23317" cy="124358"/>
          </a:xfrm>
          <a:prstGeom prst="rect">
            <a:avLst/>
          </a:prstGeom>
          <a:solidFill>
            <a:srgbClr val="6A6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3319272"/>
            <a:ext cx="202608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000" b="0" i="0" spc="14">
                <a:solidFill>
                  <a:srgbClr val="8C8467"/>
                </a:solidFill>
                <a:latin typeface="Consolas"/>
              </a:rPr>
              <a:t>MONEY LOCKED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Escrowed on XRPL under a crypto-condition. Nobody can spend it — including 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16553" y="2148840"/>
            <a:ext cx="2464993" cy="2331720"/>
          </a:xfrm>
          <a:prstGeom prst="rect">
            <a:avLst/>
          </a:prstGeom>
          <a:solidFill>
            <a:srgbClr val="FAF6EE"/>
          </a:solidFill>
          <a:ln w="9525">
            <a:solidFill>
              <a:srgbClr val="DED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16553" y="2148840"/>
            <a:ext cx="2464993" cy="45720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29278" y="2640787"/>
            <a:ext cx="590702" cy="419709"/>
          </a:xfrm>
          <a:prstGeom prst="rect">
            <a:avLst/>
          </a:prstGeom>
          <a:noFill/>
          <a:ln w="20320">
            <a:solidFill>
              <a:srgbClr val="6A6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00271" y="2570835"/>
            <a:ext cx="248716" cy="9326"/>
          </a:xfrm>
          <a:prstGeom prst="rect">
            <a:avLst/>
          </a:prstGeom>
          <a:solidFill>
            <a:srgbClr val="6A6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23588" y="2741828"/>
            <a:ext cx="202082" cy="202082"/>
          </a:xfrm>
          <a:prstGeom prst="ellipse">
            <a:avLst/>
          </a:prstGeom>
          <a:noFill/>
          <a:ln w="17780">
            <a:solidFill>
              <a:srgbClr val="6A6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6009" y="3319272"/>
            <a:ext cx="202608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000" b="0" i="0" spc="14">
                <a:solidFill>
                  <a:srgbClr val="8C8467"/>
                </a:solidFill>
                <a:latin typeface="Consolas"/>
              </a:rPr>
              <a:t>EVIDENCE SUBMITTED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Photographs with a time and a place, delivery notes, permits. Checkable, not just viewable.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0147" y="2148840"/>
            <a:ext cx="2464993" cy="2331720"/>
          </a:xfrm>
          <a:prstGeom prst="rect">
            <a:avLst/>
          </a:prstGeom>
          <a:solidFill>
            <a:srgbClr val="FAF6EE"/>
          </a:solidFill>
          <a:ln w="9525">
            <a:solidFill>
              <a:srgbClr val="DED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0147" y="2148840"/>
            <a:ext cx="2464993" cy="45720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entagon 18"/>
          <p:cNvSpPr/>
          <p:nvPr/>
        </p:nvSpPr>
        <p:spPr>
          <a:xfrm rot="5400000">
            <a:off x="6546189" y="2516428"/>
            <a:ext cx="544068" cy="590702"/>
          </a:xfrm>
          <a:prstGeom prst="homePlate">
            <a:avLst/>
          </a:prstGeom>
          <a:noFill/>
          <a:ln w="20320">
            <a:solidFill>
              <a:srgbClr val="6A63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6709409" y="2842869"/>
            <a:ext cx="147675" cy="24871"/>
          </a:xfrm>
          <a:prstGeom prst="rect">
            <a:avLst/>
          </a:prstGeom>
          <a:solidFill>
            <a:srgbClr val="6A6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18900000">
            <a:off x="6787133" y="2765145"/>
            <a:ext cx="248716" cy="24871"/>
          </a:xfrm>
          <a:prstGeom prst="rect">
            <a:avLst/>
          </a:prstGeom>
          <a:solidFill>
            <a:srgbClr val="6A6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9603" y="3319272"/>
            <a:ext cx="202608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000" b="0" i="0" spc="14">
                <a:solidFill>
                  <a:srgbClr val="8C8467"/>
                </a:solidFill>
                <a:latin typeface="Consolas"/>
              </a:rPr>
              <a:t>AGENT EXAMINES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It buys the checks it needs and reconciles them against the agreed scope.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3741" y="2148840"/>
            <a:ext cx="2464993" cy="2331720"/>
          </a:xfrm>
          <a:prstGeom prst="rect">
            <a:avLst/>
          </a:prstGeom>
          <a:solidFill>
            <a:srgbClr val="FAF6EE"/>
          </a:solidFill>
          <a:ln w="9525">
            <a:solidFill>
              <a:srgbClr val="DED7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03741" y="2148840"/>
            <a:ext cx="2464993" cy="45720"/>
          </a:xfrm>
          <a:prstGeom prst="rect">
            <a:avLst/>
          </a:prstGeom>
          <a:solidFill>
            <a:srgbClr val="2C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47555" y="2936138"/>
            <a:ext cx="497433" cy="116586"/>
          </a:xfrm>
          <a:prstGeom prst="ellipse">
            <a:avLst/>
          </a:prstGeom>
          <a:noFill/>
          <a:ln w="17780">
            <a:solidFill>
              <a:srgbClr val="2C5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94190" y="2780690"/>
            <a:ext cx="404164" cy="116586"/>
          </a:xfrm>
          <a:prstGeom prst="ellipse">
            <a:avLst/>
          </a:prstGeom>
          <a:noFill/>
          <a:ln w="17780">
            <a:solidFill>
              <a:srgbClr val="2C5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40824" y="2625242"/>
            <a:ext cx="310896" cy="116586"/>
          </a:xfrm>
          <a:prstGeom prst="ellipse">
            <a:avLst/>
          </a:prstGeom>
          <a:noFill/>
          <a:ln w="17780">
            <a:solidFill>
              <a:srgbClr val="2C5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3197" y="3319272"/>
            <a:ext cx="202608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000" b="0" i="0" spc="14">
                <a:solidFill>
                  <a:srgbClr val="8C8467"/>
                </a:solidFill>
                <a:latin typeface="Consolas"/>
              </a:rPr>
              <a:t>RELEASED IN ~4s</a:t>
            </a:r>
          </a:p>
          <a:p>
            <a:pPr>
              <a:lnSpc>
                <a:spcPct val="138000"/>
              </a:lnSpc>
              <a:spcAft>
                <a:spcPts val="0"/>
              </a:spcAft>
            </a:pPr>
            <a:r>
              <a:rPr sz="1250" b="0" i="0">
                <a:solidFill>
                  <a:srgbClr val="514A3C"/>
                </a:solidFill>
                <a:latin typeface="Segoe UI"/>
              </a:rPr>
              <a:t>Or held, with the reason named. Each release writes a credential to the builder's account.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 i="1">
                <a:solidFill>
                  <a:srgbClr val="514A3C"/>
                </a:solidFill>
                <a:latin typeface="Georgia"/>
              </a:rPr>
              <a:t>Remove the agent and you need a site visit for every payment. Remove autonomous payment and the escrow is just an invoice again.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6217920"/>
            <a:ext cx="10545775" cy="5715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5847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03 /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8C8467"/>
                </a:solidFill>
                <a:latin typeface="Consolas"/>
              </a:rPr>
              <a:t>WHAT IT IS MEASURABLY BETTER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17130D"/>
                </a:solidFill>
                <a:latin typeface="Georgia"/>
              </a:rPr>
              <a:t>Every number here came off the ledger, not a projection.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37944"/>
            <a:ext cx="10545775" cy="5715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Time to release a 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98424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C8467"/>
                </a:solidFill>
                <a:latin typeface="Segoe UI"/>
              </a:rPr>
              <a:t>weeks, city by 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8424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2C5A4E"/>
                </a:solidFill>
                <a:latin typeface="Segoe UI"/>
              </a:rPr>
              <a:t>~4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10545775" cy="5715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414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Cost of holding the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45973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C8467"/>
                </a:solidFill>
                <a:latin typeface="Segoe UI"/>
              </a:rPr>
              <a:t>3–5% to an escrow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459736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2C5A4E"/>
                </a:solidFill>
                <a:latin typeface="Segoe UI"/>
              </a:rPr>
              <a:t>0.8%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07208"/>
            <a:ext cx="10545775" cy="5715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169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Cost of checking the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352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C8467"/>
                </a:solidFill>
                <a:latin typeface="Segoe UI"/>
              </a:rPr>
              <a:t>a site visit, a day of someone's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93522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2C5A4E"/>
                </a:solidFill>
                <a:latin typeface="Segoe UI"/>
              </a:rPr>
              <a:t>US$0.48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82696"/>
            <a:ext cx="10545775" cy="5715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9242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Builder paid after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107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C8467"/>
                </a:solidFill>
                <a:latin typeface="Segoe UI"/>
              </a:rPr>
              <a:t>30–60 day 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4107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2C5A4E"/>
                </a:solidFill>
                <a:latin typeface="Segoe UI"/>
              </a:rPr>
              <a:t>on presentation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758184"/>
            <a:ext cx="10545775" cy="5715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86791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Nothing 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886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C8467"/>
                </a:solidFill>
                <a:latin typeface="Segoe UI"/>
              </a:rPr>
              <a:t>dispute, or write-off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8862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2C5A4E"/>
                </a:solidFill>
                <a:latin typeface="Segoe UI"/>
              </a:rPr>
              <a:t>escrow returns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233672"/>
            <a:ext cx="10545775" cy="5715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43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17130D"/>
                </a:solidFill>
                <a:latin typeface="Segoe UI"/>
              </a:rPr>
              <a:t>Builder's reputation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3616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8C8467"/>
                </a:solidFill>
                <a:latin typeface="Segoe UI"/>
              </a:rPr>
              <a:t>a folder of photos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361688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2C5A4E"/>
                </a:solidFill>
                <a:latin typeface="Segoe UI"/>
              </a:rPr>
              <a:t>credential on their ledger account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709160"/>
            <a:ext cx="10545775" cy="5715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5029200"/>
            <a:ext cx="10545775" cy="960120"/>
          </a:xfrm>
          <a:prstGeom prst="rect">
            <a:avLst/>
          </a:prstGeom>
          <a:solidFill>
            <a:srgbClr val="DCE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230368"/>
            <a:ext cx="99971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1">
                <a:solidFill>
                  <a:srgbClr val="2C5A4E"/>
                </a:solidFill>
                <a:latin typeface="Georgia"/>
              </a:rPr>
              <a:t>Three of six milestones in our demo end with no payment at all — held, flagged, or returned.</a:t>
            </a:r>
          </a:p>
          <a:p>
            <a:pPr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514A3C"/>
                </a:solidFill>
                <a:latin typeface="Segoe UI"/>
              </a:rPr>
              <a:t>A payment that correctly does not happen is what makes an autonomous payment system worth trusting.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6217920"/>
            <a:ext cx="10545775" cy="5715"/>
          </a:xfrm>
          <a:prstGeom prst="rect">
            <a:avLst/>
          </a:prstGeom>
          <a:solidFill>
            <a:srgbClr val="DE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KIRIM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5847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8C8467"/>
                </a:solidFill>
                <a:latin typeface="Consolas"/>
              </a:rPr>
              <a:t>04 /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D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 spc="18">
                <a:solidFill>
                  <a:srgbClr val="7D766A"/>
                </a:solidFill>
                <a:latin typeface="Consolas"/>
              </a:rPr>
              <a:t>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400" b="0" i="0">
                <a:solidFill>
                  <a:srgbClr val="D9D3C5"/>
                </a:solidFill>
                <a:latin typeface="Georgia"/>
              </a:rPr>
              <a:t>Watch a milestone pay itself. Then watch one refuse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45720" cy="402336"/>
          </a:xfrm>
          <a:prstGeom prst="rect">
            <a:avLst/>
          </a:prstGeom>
          <a:solidFill>
            <a:srgbClr val="5E9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3911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7D766A"/>
                </a:solidFill>
                <a:latin typeface="Consolas"/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2996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D9D3C5"/>
                </a:solidFill>
                <a:latin typeface="Segoe UI"/>
              </a:rPr>
              <a:t>Evidence conforms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039112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9483"/>
                </a:solidFill>
                <a:latin typeface="Segoe UI"/>
              </a:rPr>
              <a:t>released in 58s · fee charged · credential written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78608"/>
            <a:ext cx="45720" cy="402336"/>
          </a:xfrm>
          <a:prstGeom prst="rect">
            <a:avLst/>
          </a:prstGeom>
          <a:solidFill>
            <a:srgbClr val="B0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7D766A"/>
                </a:solidFill>
                <a:latin typeface="Consolas"/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59689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D9D3C5"/>
                </a:solidFill>
                <a:latin typeface="Segoe UI"/>
              </a:rPr>
              <a:t>A photo taken 2.3km off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0604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9483"/>
                </a:solidFill>
                <a:latin typeface="Segoe UI"/>
              </a:rPr>
              <a:t>flagged — the money stays 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45536"/>
            <a:ext cx="45720" cy="402336"/>
          </a:xfrm>
          <a:prstGeom prst="rect">
            <a:avLst/>
          </a:prstGeom>
          <a:solidFill>
            <a:srgbClr val="B0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17296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7D766A"/>
                </a:solidFill>
                <a:latin typeface="Consolas"/>
              </a:rPr>
              <a:t>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16382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D9D3C5"/>
                </a:solidFill>
                <a:latin typeface="Segoe UI"/>
              </a:rPr>
              <a:t>One photo of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172968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9483"/>
                </a:solidFill>
                <a:latin typeface="Segoe UI"/>
              </a:rPr>
              <a:t>more information needed — no mark on the builder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12464"/>
            <a:ext cx="45720" cy="402336"/>
          </a:xfrm>
          <a:prstGeom prst="rect">
            <a:avLst/>
          </a:prstGeom>
          <a:solidFill>
            <a:srgbClr val="5E9B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73989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7D766A"/>
                </a:solidFill>
                <a:latin typeface="Consolas"/>
              </a:rPr>
              <a:t>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73075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D9D3C5"/>
                </a:solidFill>
                <a:latin typeface="Segoe UI"/>
              </a:rPr>
              <a:t>Above the client's ceiling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739896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9483"/>
                </a:solidFill>
                <a:latin typeface="Segoe UI"/>
              </a:rPr>
              <a:t>she signs from her own wallet, then it releases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4279392"/>
            <a:ext cx="45720" cy="402336"/>
          </a:xfrm>
          <a:prstGeom prst="rect">
            <a:avLst/>
          </a:prstGeom>
          <a:solidFill>
            <a:srgbClr val="A23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068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7D766A"/>
                </a:solidFill>
                <a:latin typeface="Consolas"/>
              </a:rPr>
              <a:t>M6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2976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 i="0">
                <a:solidFill>
                  <a:srgbClr val="D9D3C5"/>
                </a:solidFill>
                <a:latin typeface="Segoe UI"/>
              </a:rPr>
              <a:t>Nothing ever submitted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30682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9483"/>
                </a:solidFill>
                <a:latin typeface="Segoe UI"/>
              </a:rPr>
              <a:t>escrow times out, the money goes home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29200"/>
            <a:ext cx="10545775" cy="5715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230368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 i="0">
                <a:solidFill>
                  <a:srgbClr val="9B9483"/>
                </a:solidFill>
                <a:latin typeface="Segoe UI"/>
              </a:rPr>
              <a:t>Every payment is real on XRPL testnet. Evidence is bought over the Machine Payments Protocol and settles in RLUSD.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230368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 i="0">
                <a:solidFill>
                  <a:srgbClr val="5E9B79"/>
                </a:solidFill>
                <a:latin typeface="Consolas"/>
              </a:rPr>
              <a:t>DB2C321D1C41C72440227725382A8C4390F237…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950" b="0" i="0">
                <a:solidFill>
                  <a:srgbClr val="5E9B79"/>
                </a:solidFill>
                <a:latin typeface="Consolas"/>
              </a:rPr>
              <a:t>21EF14A8EBC9925E26AB013DBD7865FC30A965…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950" b="0" i="0">
                <a:solidFill>
                  <a:srgbClr val="5E9B79"/>
                </a:solidFill>
                <a:latin typeface="Consolas"/>
              </a:rPr>
              <a:t>28F9F75CB532EFF8BBB95A50286CA5CA319650…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sz="950" b="0" i="0">
                <a:solidFill>
                  <a:srgbClr val="7D766A"/>
                </a:solidFill>
                <a:latin typeface="Consolas"/>
              </a:rPr>
              <a:t>testnet.xrpl.org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217920"/>
            <a:ext cx="10545775" cy="5715"/>
          </a:xfrm>
          <a:prstGeom prst="rect">
            <a:avLst/>
          </a:prstGeom>
          <a:solidFill>
            <a:srgbClr val="262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KIRIM · LESS BLIND TRUST. MORE VISIBLE PROOF.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5847" y="6355080"/>
            <a:ext cx="5272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950" b="0" i="0" spc="12">
                <a:solidFill>
                  <a:srgbClr val="7D766A"/>
                </a:solidFill>
                <a:latin typeface="Consolas"/>
              </a:rPr>
              <a:t>05 /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