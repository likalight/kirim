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SINGHACKS 2026 · RIPPLE · AI-NATIVE BUSINESS ON XRPL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601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5953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4600" b="0" i="0">
                <a:solidFill>
                  <a:srgbClr val="D9D3C5"/>
                </a:solidFill>
                <a:latin typeface="Georgia"/>
              </a:rPr>
              <a:t>A trillion dollars was spent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4600" b="0" i="0">
                <a:solidFill>
                  <a:srgbClr val="D9D3C5"/>
                </a:solidFill>
                <a:latin typeface="Georgia"/>
              </a:rPr>
              <a:t>finishing homes people had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4600" b="0" i="0">
                <a:solidFill>
                  <a:srgbClr val="B07A22"/>
                </a:solidFill>
                <a:latin typeface="Georgia"/>
              </a:rPr>
              <a:t>already paid for.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600" b="0" i="0">
                <a:solidFill>
                  <a:srgbClr val="9B9483"/>
                </a:solidFill>
                <a:latin typeface="Segoe UI"/>
              </a:rPr>
              <a:t>The money was never missing. It sat in escrow the whole time. Somebody just had to decide it could be released — and that decision is still made by hand.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5780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0" i="0">
                <a:solidFill>
                  <a:srgbClr val="D9D3C5"/>
                </a:solidFill>
                <a:latin typeface="Georgia"/>
              </a:rPr>
              <a:t>KIRIM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5742432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50" b="0" i="0">
                <a:solidFill>
                  <a:srgbClr val="9B9483"/>
                </a:solidFill>
                <a:latin typeface="Segoe UI"/>
              </a:rPr>
              <a:t>Construction escrow, released by an agent that examines the evidence. Settled on the XRP Ledger.</a:t>
            </a:r>
          </a:p>
        </p:txBody>
      </p:sp>
      <p:pic>
        <p:nvPicPr>
          <p:cNvPr id="10" name="Picture 9" descr="rip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1208" y="5897880"/>
            <a:ext cx="997527" cy="25603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0133464" y="5879592"/>
            <a:ext cx="9525" cy="292608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ingh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3621" y="5879592"/>
            <a:ext cx="622099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4901" y="59161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00" b="0" i="0" spc="16">
                <a:solidFill>
                  <a:srgbClr val="7D766A"/>
                </a:solidFill>
                <a:latin typeface="Consolas"/>
              </a:rPr>
              <a:t>BUILT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92463" y="2359152"/>
            <a:ext cx="1188720" cy="1664208"/>
          </a:xfrm>
          <a:prstGeom prst="rect">
            <a:avLst/>
          </a:prstGeom>
          <a:noFill/>
          <a:ln w="20320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92463" y="2739542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2463" y="3119932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92463" y="3500323"/>
            <a:ext cx="1188720" cy="2139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18927" y="1788566"/>
            <a:ext cx="28529" cy="2234793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25304" y="1788566"/>
            <a:ext cx="1283817" cy="28529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15499" y="1788566"/>
            <a:ext cx="23774" cy="356616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966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Somebody pays before it exists.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2C5A4E"/>
                </a:solidFill>
                <a:latin typeface="Georgia"/>
              </a:rPr>
              <a:t>Somebody decides when that money is released.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880091" y="1552651"/>
            <a:ext cx="1057046" cy="777240"/>
          </a:xfrm>
          <a:prstGeom prst="rect">
            <a:avLst/>
          </a:prstGeom>
          <a:noFill/>
          <a:ln w="20320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10035539" y="1055217"/>
            <a:ext cx="746150" cy="808329"/>
          </a:xfrm>
          <a:prstGeom prst="blockArc">
            <a:avLst/>
          </a:prstGeom>
          <a:noFill/>
          <a:ln w="20320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385297" y="1816912"/>
            <a:ext cx="46634" cy="248716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85%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788920"/>
            <a:ext cx="23925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of new homes in China are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sold before they are built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794760"/>
            <a:ext cx="4861407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7432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50–70%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788920"/>
            <a:ext cx="23925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of pre-sale money sits in escrow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controlled by local government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7327" y="3794760"/>
            <a:ext cx="4861407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160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7A2E2E"/>
                </a:solidFill>
                <a:latin typeface="Georgia"/>
              </a:rPr>
              <a:t>US$300bn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206240"/>
            <a:ext cx="23925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of Evergrande liabilities — buyers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who paid in full got nothing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212080"/>
            <a:ext cx="4861407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7327" y="4160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¥7tn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4767" y="4206240"/>
            <a:ext cx="23925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of state financing to finish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7.5m homes already paid for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7327" y="5212080"/>
            <a:ext cx="4861407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4068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0" i="1">
                <a:solidFill>
                  <a:srgbClr val="514A3C"/>
                </a:solidFill>
                <a:latin typeface="Georgia"/>
              </a:rPr>
              <a:t>The escrow already exists, at national scale. What fails is the release.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01 /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BEFORE  / 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The same sale. One thing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China pre-sale (期房). Kirim sits between the bank and the developer — it does not stop anyone selling off-plan.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5044287" cy="340156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5044287" cy="45720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368296"/>
            <a:ext cx="453222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1" i="0" spc="14">
                <a:solidFill>
                  <a:srgbClr val="A23B2C"/>
                </a:solidFill>
                <a:latin typeface="Consolas"/>
              </a:rPr>
              <a:t>BEFORE  ·  PRE-SALE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788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9B9483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77977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5728" y="2761488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9B9483"/>
                </a:solidFill>
                <a:latin typeface="Segoe UI"/>
              </a:rPr>
              <a:t>Sells the tower off-plan, years before it exists.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2369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9B9483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227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BUYER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209544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9B9483"/>
                </a:solidFill>
                <a:latin typeface="Segoe UI"/>
              </a:rPr>
              <a:t>Pays a 20–30% deposit against a drawing.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6850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9B9483"/>
                </a:solidFill>
                <a:latin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67588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3657600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9B9483"/>
                </a:solidFill>
                <a:latin typeface="Segoe UI"/>
              </a:rPr>
              <a:t>Pays the whole mortgage to the developer, day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9B9483"/>
                </a:solidFill>
                <a:latin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1239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BUREAU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95728" y="4105656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9B9483"/>
                </a:solidFill>
                <a:latin typeface="Segoe UI"/>
              </a:rPr>
              <a:t>A local official approves each draw. Rules differ by city.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581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A23B2C"/>
                </a:solidFill>
                <a:latin typeface="Consola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5720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DEVELOPER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8" y="4553712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7A2E2E"/>
                </a:solidFill>
                <a:latin typeface="Segoe UI"/>
              </a:rPr>
              <a:t>Cash is moved to land, other projects, group debt.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029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A23B2C"/>
                </a:solidFill>
                <a:latin typeface="Consola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02005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BUYER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5728" y="5001768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7A2E2E"/>
                </a:solidFill>
                <a:latin typeface="Segoe UI"/>
              </a:rPr>
              <a:t>Work stops. She keeps paying for a home that does not exist.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24447" y="2148840"/>
            <a:ext cx="5044287" cy="340156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24447" y="2148840"/>
            <a:ext cx="5044287" cy="45720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0479" y="2368296"/>
            <a:ext cx="453222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1" i="0" spc="14">
                <a:solidFill>
                  <a:srgbClr val="5E9B79"/>
                </a:solidFill>
                <a:latin typeface="Consolas"/>
              </a:rPr>
              <a:t>AFTER  ·  THE SAME SALE, WITH KIRIM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0479" y="27889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1375" y="277977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DEVELOPER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7215" y="2761488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Segoe UI"/>
              </a:rPr>
              <a:t>Sells the tower off-plan, years before it exists.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278892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750" b="0" i="0">
                <a:solidFill>
                  <a:srgbClr val="7D766A"/>
                </a:solidFill>
                <a:latin typeface="Consolas"/>
              </a:rPr>
              <a:t>unchanged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0479" y="32369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7D766A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1375" y="3227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BUYER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7215" y="3209544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Segoe UI"/>
              </a:rPr>
              <a:t>Pays a 20–30% deposit against a drawing.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4335" y="32369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750" b="0" i="0">
                <a:solidFill>
                  <a:srgbClr val="7D766A"/>
                </a:solidFill>
                <a:latin typeface="Consolas"/>
              </a:rPr>
              <a:t>unchanged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0479" y="36850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5E9B79"/>
                </a:solidFill>
                <a:latin typeface="Consola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1375" y="367588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BANK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97215" y="3657600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D9D3C5"/>
                </a:solidFill>
                <a:latin typeface="Segoe UI"/>
              </a:rPr>
              <a:t>Pays the whole mortgage day one — into escrow.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0479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5E9B79"/>
                </a:solidFill>
                <a:latin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1375" y="41239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XRPL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97215" y="4105656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D9D3C5"/>
                </a:solidFill>
                <a:latin typeface="Segoe UI"/>
              </a:rPr>
              <a:t>A crypto-condition approves each draw. No official to lobby.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0479" y="4581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5E9B79"/>
                </a:solidFill>
                <a:latin typeface="Consolas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91375" y="457200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AGENT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7215" y="4553712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D9D3C5"/>
                </a:solidFill>
                <a:latin typeface="Segoe UI"/>
              </a:rPr>
              <a:t>Examines the evidence. Releases in ~4s, or holds and says why.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0479" y="5029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0">
                <a:solidFill>
                  <a:srgbClr val="5E9B79"/>
                </a:solidFill>
                <a:latin typeface="Consola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91375" y="502005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800" b="0" i="0" spc="12">
                <a:solidFill>
                  <a:srgbClr val="7D766A"/>
                </a:solidFill>
                <a:latin typeface="Consolas"/>
              </a:rPr>
              <a:t>XRPL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97215" y="5001768"/>
            <a:ext cx="30783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 i="0">
                <a:solidFill>
                  <a:srgbClr val="D9D3C5"/>
                </a:solidFill>
                <a:latin typeface="Segoe UI"/>
              </a:rPr>
              <a:t>A stage never built expires back to her. No lawsuit.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" y="5760720"/>
            <a:ext cx="10545775" cy="566928"/>
          </a:xfrm>
          <a:prstGeom prst="rect">
            <a:avLst/>
          </a:prstGeom>
          <a:solidFill>
            <a:srgbClr val="1A1712"/>
          </a:solidFill>
          <a:ln w="9525">
            <a:solidFill>
              <a:srgbClr val="262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960" y="5760720"/>
            <a:ext cx="45720" cy="566928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15568" y="5870448"/>
            <a:ext cx="99605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50" b="0" i="1">
                <a:solidFill>
                  <a:srgbClr val="D9D3C5"/>
                </a:solidFill>
                <a:latin typeface="Georgia"/>
              </a:rPr>
              <a:t>Two of the six steps are identical. The one that changes is whether the money can leave — and everything else follows from that.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· BEFORE / AFTER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02 / THE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600" b="0" i="0">
                <a:solidFill>
                  <a:srgbClr val="17130D"/>
                </a:solidFill>
                <a:latin typeface="Georgia"/>
              </a:rPr>
              <a:t>Release on evidence, not on somebody's judgement.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48840"/>
            <a:ext cx="2464993" cy="233172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2464993" cy="45720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6774" y="2765145"/>
            <a:ext cx="528523" cy="388620"/>
          </a:xfrm>
          <a:prstGeom prst="rect">
            <a:avLst/>
          </a:prstGeom>
          <a:noFill/>
          <a:ln w="20320">
            <a:solidFill>
              <a:srgbClr val="6A6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1244498" y="2516428"/>
            <a:ext cx="373075" cy="404164"/>
          </a:xfrm>
          <a:prstGeom prst="blockArc">
            <a:avLst/>
          </a:prstGeom>
          <a:noFill/>
          <a:ln w="20320">
            <a:solidFill>
              <a:srgbClr val="6A6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9377" y="2897276"/>
            <a:ext cx="23317" cy="124358"/>
          </a:xfrm>
          <a:prstGeom prst="rect">
            <a:avLst/>
          </a:prstGeom>
          <a:solidFill>
            <a:srgbClr val="6A6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3319272"/>
            <a:ext cx="202608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00" b="0" i="0" spc="14">
                <a:solidFill>
                  <a:srgbClr val="8C8467"/>
                </a:solidFill>
                <a:latin typeface="Consolas"/>
              </a:rPr>
              <a:t>MONEY LOCKED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Escrowed on XRPL under a crypto-condition. Nobody can spend it — including us.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16553" y="2148840"/>
            <a:ext cx="2464993" cy="233172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6553" y="2148840"/>
            <a:ext cx="2464993" cy="45720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29278" y="2640787"/>
            <a:ext cx="590702" cy="419709"/>
          </a:xfrm>
          <a:prstGeom prst="rect">
            <a:avLst/>
          </a:prstGeom>
          <a:noFill/>
          <a:ln w="20320">
            <a:solidFill>
              <a:srgbClr val="6A6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0271" y="2570835"/>
            <a:ext cx="248716" cy="9326"/>
          </a:xfrm>
          <a:prstGeom prst="rect">
            <a:avLst/>
          </a:prstGeom>
          <a:solidFill>
            <a:srgbClr val="6A6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023588" y="2741828"/>
            <a:ext cx="202082" cy="202082"/>
          </a:xfrm>
          <a:prstGeom prst="ellipse">
            <a:avLst/>
          </a:prstGeom>
          <a:noFill/>
          <a:ln w="17780">
            <a:solidFill>
              <a:srgbClr val="6A6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6009" y="3319272"/>
            <a:ext cx="202608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00" b="0" i="0" spc="14">
                <a:solidFill>
                  <a:srgbClr val="8C8467"/>
                </a:solidFill>
                <a:latin typeface="Consolas"/>
              </a:rPr>
              <a:t>EVIDENCE SUBMITTED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Photographs with a time and a place, delivery notes, permits. Checkable, not just viewable.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0147" y="2148840"/>
            <a:ext cx="2464993" cy="233172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2148840"/>
            <a:ext cx="2464993" cy="45720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entagon 18"/>
          <p:cNvSpPr/>
          <p:nvPr/>
        </p:nvSpPr>
        <p:spPr>
          <a:xfrm rot="5400000">
            <a:off x="6546189" y="2516428"/>
            <a:ext cx="544068" cy="590702"/>
          </a:xfrm>
          <a:prstGeom prst="homePlate">
            <a:avLst/>
          </a:prstGeom>
          <a:noFill/>
          <a:ln w="20320">
            <a:solidFill>
              <a:srgbClr val="6A63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709409" y="2842869"/>
            <a:ext cx="147675" cy="24871"/>
          </a:xfrm>
          <a:prstGeom prst="rect">
            <a:avLst/>
          </a:prstGeom>
          <a:solidFill>
            <a:srgbClr val="6A6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18900000">
            <a:off x="6787133" y="2765145"/>
            <a:ext cx="248716" cy="24871"/>
          </a:xfrm>
          <a:prstGeom prst="rect">
            <a:avLst/>
          </a:prstGeom>
          <a:solidFill>
            <a:srgbClr val="6A63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9603" y="3319272"/>
            <a:ext cx="202608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00" b="0" i="0" spc="14">
                <a:solidFill>
                  <a:srgbClr val="8C8467"/>
                </a:solidFill>
                <a:latin typeface="Consolas"/>
              </a:rPr>
              <a:t>AGENT EXAMINES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It buys the checks it needs and reconciles them against the agreed scope.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741" y="2148840"/>
            <a:ext cx="2464993" cy="2331720"/>
          </a:xfrm>
          <a:prstGeom prst="rect">
            <a:avLst/>
          </a:prstGeom>
          <a:solidFill>
            <a:srgbClr val="FAF6EE"/>
          </a:solidFill>
          <a:ln w="9525">
            <a:solidFill>
              <a:srgbClr val="DED7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3741" y="2148840"/>
            <a:ext cx="2464993" cy="45720"/>
          </a:xfrm>
          <a:prstGeom prst="rect">
            <a:avLst/>
          </a:prstGeom>
          <a:solidFill>
            <a:srgbClr val="2C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47555" y="2936138"/>
            <a:ext cx="497433" cy="116586"/>
          </a:xfrm>
          <a:prstGeom prst="ellipse">
            <a:avLst/>
          </a:prstGeom>
          <a:noFill/>
          <a:ln w="17780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94190" y="2780690"/>
            <a:ext cx="404164" cy="116586"/>
          </a:xfrm>
          <a:prstGeom prst="ellipse">
            <a:avLst/>
          </a:prstGeom>
          <a:noFill/>
          <a:ln w="17780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0824" y="2625242"/>
            <a:ext cx="310896" cy="116586"/>
          </a:xfrm>
          <a:prstGeom prst="ellipse">
            <a:avLst/>
          </a:prstGeom>
          <a:noFill/>
          <a:ln w="17780">
            <a:solidFill>
              <a:srgbClr val="2C5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23197" y="3319272"/>
            <a:ext cx="2026081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000" b="0" i="0" spc="14">
                <a:solidFill>
                  <a:srgbClr val="8C8467"/>
                </a:solidFill>
                <a:latin typeface="Consolas"/>
              </a:rPr>
              <a:t>RELEASED IN ~4s</a:t>
            </a:r>
          </a:p>
          <a:p>
            <a:pPr>
              <a:lnSpc>
                <a:spcPct val="138000"/>
              </a:lnSpc>
              <a:spcAft>
                <a:spcPts val="0"/>
              </a:spcAft>
            </a:pPr>
            <a:r>
              <a:rPr sz="1250" b="0" i="0">
                <a:solidFill>
                  <a:srgbClr val="514A3C"/>
                </a:solidFill>
                <a:latin typeface="Segoe UI"/>
              </a:rPr>
              <a:t>Or held, with the reason named. Each release writes a credential to the builder's account.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92040"/>
            <a:ext cx="105457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 i="1">
                <a:solidFill>
                  <a:srgbClr val="514A3C"/>
                </a:solidFill>
                <a:latin typeface="Georgia"/>
              </a:rPr>
              <a:t>Remove the agent and you need a site visit for every payment. Remove autonomous payment and the escrow is just an invoice again.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03 /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8C8467"/>
                </a:solidFill>
                <a:latin typeface="Consolas"/>
              </a:rPr>
              <a:t>WHAT IT IS MEASURABLY BETTER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17130D"/>
                </a:solidFill>
                <a:latin typeface="Georgia"/>
              </a:rPr>
              <a:t>Every number here came off the ledger, not a projection.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37944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Time to release a stage draw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198424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weeks, city by 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842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~4 seconds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331720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Cost of holding 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459736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3–5% to an escrow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4597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0.8%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807208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9169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Cost of checking the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93522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a site visit, a day of someone's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935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US$0.48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82696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Builder paid after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410712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30–60 day terms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4107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on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758184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86791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Nothing delivered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38862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dispute, or write-off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8862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escrow returns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233672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3434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17130D"/>
                </a:solidFill>
                <a:latin typeface="Segoe UI"/>
              </a:rPr>
              <a:t>Builder's reputation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361688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8C8467"/>
                </a:solidFill>
                <a:latin typeface="Segoe UI"/>
              </a:rPr>
              <a:t>a folder of photos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36168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2C5A4E"/>
                </a:solidFill>
                <a:latin typeface="Segoe UI"/>
              </a:rPr>
              <a:t>credential on their ledger account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709160"/>
            <a:ext cx="10545775" cy="5715"/>
          </a:xfrm>
          <a:prstGeom prst="rect">
            <a:avLst/>
          </a:prstGeom>
          <a:solidFill>
            <a:srgbClr val="E8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" y="5029200"/>
            <a:ext cx="10545775" cy="960120"/>
          </a:xfrm>
          <a:prstGeom prst="rect">
            <a:avLst/>
          </a:prstGeom>
          <a:solidFill>
            <a:srgbClr val="DC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230368"/>
            <a:ext cx="999713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 i="1">
                <a:solidFill>
                  <a:srgbClr val="2C5A4E"/>
                </a:solidFill>
                <a:latin typeface="Georgia"/>
              </a:rPr>
              <a:t>Three of six stages in our demo end with no payment at all — held, flagged, or returned.</a:t>
            </a:r>
          </a:p>
          <a:p>
            <a:pPr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514A3C"/>
                </a:solidFill>
                <a:latin typeface="Segoe UI"/>
              </a:rPr>
              <a:t>A payment that correctly does not happen is what makes an autonomous payment system worth trusting.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DED7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KIRIM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8C8467"/>
                </a:solidFill>
                <a:latin typeface="Consolas"/>
              </a:rPr>
              <a:t>04 / BENEFITS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457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 i="0" spc="18">
                <a:solidFill>
                  <a:srgbClr val="7D766A"/>
                </a:solidFill>
                <a:latin typeface="Consolas"/>
              </a:rPr>
              <a:t>THE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0" i="0">
                <a:solidFill>
                  <a:srgbClr val="D9D3C5"/>
                </a:solidFill>
                <a:latin typeface="Georgia"/>
              </a:rPr>
              <a:t>Watch a stage pay itself. Then watch one refuse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45720" cy="402336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39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Consolas"/>
              </a:rPr>
              <a:t>M1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2996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D9D3C5"/>
                </a:solidFill>
                <a:latin typeface="Segoe UI"/>
              </a:rPr>
              <a:t>Evidence conforms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03911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released in 58s · fee charged · credential written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578608"/>
            <a:ext cx="45720" cy="402336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Consolas"/>
              </a:rPr>
              <a:t>M2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9689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D9D3C5"/>
                </a:solidFill>
                <a:latin typeface="Segoe UI"/>
              </a:rPr>
              <a:t>A photo taken 2.4km off 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60604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flagged — the money stays 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145536"/>
            <a:ext cx="45720" cy="402336"/>
          </a:xfrm>
          <a:prstGeom prst="rect">
            <a:avLst/>
          </a:prstGeom>
          <a:solidFill>
            <a:srgbClr val="B07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17296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Consolas"/>
              </a:rPr>
              <a:t>M3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63824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D9D3C5"/>
                </a:solidFill>
                <a:latin typeface="Segoe UI"/>
              </a:rPr>
              <a:t>One photo of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172968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more information needed — no mark on the builder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12464"/>
            <a:ext cx="45720" cy="402336"/>
          </a:xfrm>
          <a:prstGeom prst="rect">
            <a:avLst/>
          </a:prstGeom>
          <a:solidFill>
            <a:srgbClr val="5E9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739896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Consolas"/>
              </a:rPr>
              <a:t>M5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73075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D9D3C5"/>
                </a:solidFill>
                <a:latin typeface="Segoe UI"/>
              </a:rPr>
              <a:t>Above the buyer's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739896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she signs from her own wallet, then it releases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79392"/>
            <a:ext cx="45720" cy="402336"/>
          </a:xfrm>
          <a:prstGeom prst="rect">
            <a:avLst/>
          </a:prstGeom>
          <a:solidFill>
            <a:srgbClr val="A23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306824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 i="0">
                <a:solidFill>
                  <a:srgbClr val="7D766A"/>
                </a:solidFill>
                <a:latin typeface="Consolas"/>
              </a:rPr>
              <a:t>M6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976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50" b="1" i="0">
                <a:solidFill>
                  <a:srgbClr val="D9D3C5"/>
                </a:solidFill>
                <a:latin typeface="Segoe UI"/>
              </a:rPr>
              <a:t>Completion never presented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306824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escrow times out, the money goes home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02920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30368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300" b="0" i="0">
                <a:solidFill>
                  <a:srgbClr val="9B9483"/>
                </a:solidFill>
                <a:latin typeface="Segoe UI"/>
              </a:rPr>
              <a:t>Every payment is real on XRPL testnet. Evidence is bought over the Machine Payments Protocol and settles in RLUSD.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5230368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 i="0">
                <a:solidFill>
                  <a:srgbClr val="5E9B79"/>
                </a:solidFill>
                <a:latin typeface="Consolas"/>
              </a:rPr>
              <a:t>DB2C321D1C41C72440227725382A8C4390F237…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950" b="0" i="0">
                <a:solidFill>
                  <a:srgbClr val="5E9B79"/>
                </a:solidFill>
                <a:latin typeface="Consolas"/>
              </a:rPr>
              <a:t>21EF14A8EBC9925E26AB013DBD7865FC30A965…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950" b="0" i="0">
                <a:solidFill>
                  <a:srgbClr val="5E9B79"/>
                </a:solidFill>
                <a:latin typeface="Consolas"/>
              </a:rPr>
              <a:t>28F9F75CB532EFF8BBB95A50286CA5CA319650…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sz="950" b="0" i="0">
                <a:solidFill>
                  <a:srgbClr val="7D766A"/>
                </a:solidFill>
                <a:latin typeface="Consolas"/>
              </a:rPr>
              <a:t>testnet.xrpl.org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6217920"/>
            <a:ext cx="10545775" cy="5715"/>
          </a:xfrm>
          <a:prstGeom prst="rect">
            <a:avLst/>
          </a:prstGeom>
          <a:solidFill>
            <a:srgbClr val="26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KIRIM · LESS BLIND TRUST. MORE VISIBLE PROOF.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5847" y="6355080"/>
            <a:ext cx="52728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950" b="0" i="0" spc="12">
                <a:solidFill>
                  <a:srgbClr val="7D766A"/>
                </a:solidFill>
                <a:latin typeface="Consolas"/>
              </a:rPr>
              <a:t>05 /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