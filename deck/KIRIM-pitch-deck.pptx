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57400"/>
            <a:ext cx="8412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0" b="0" i="0">
                <a:solidFill>
                  <a:srgbClr val="D9D3C5"/>
                </a:solidFill>
                <a:latin typeface="Georgia"/>
              </a:rPr>
              <a:t>KIRIM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3000" b="0" i="1">
                <a:solidFill>
                  <a:srgbClr val="5E9B79"/>
                </a:solidFill>
                <a:latin typeface="Georgia"/>
              </a:rPr>
              <a:t>Trust before you build.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sz="1600" b="0" i="0">
                <a:solidFill>
                  <a:srgbClr val="9B9483"/>
                </a:solidFill>
                <a:latin typeface="Segoe UI"/>
              </a:rPr>
              <a:t>Milestone payments for construction, released by an agent that examines the evidence, settled on the XRP Ledger.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SINGHACKS 2026   ·   RIPPLE   ·   AI-NATIVE BUSINESS ON XRPL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28800"/>
            <a:ext cx="10637215" cy="6350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8064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 spc="8">
                <a:solidFill>
                  <a:srgbClr val="7D766A"/>
                </a:solidFill>
                <a:latin typeface="Consolas"/>
              </a:rPr>
              <a:t>Less blind trust. More visible proof.</a:t>
            </a:r>
          </a:p>
        </p:txBody>
      </p:sp>
      <p:pic>
        <p:nvPicPr>
          <p:cNvPr id="7" name="Picture 6" descr="rip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5676" y="5687568"/>
            <a:ext cx="1068779" cy="2743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089644" y="5669280"/>
            <a:ext cx="9525" cy="310896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nghac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2631" y="5669280"/>
            <a:ext cx="660981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38191" y="57150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 i="0" spc="16">
                <a:solidFill>
                  <a:srgbClr val="7D766A"/>
                </a:solidFill>
                <a:latin typeface="Consolas"/>
              </a:rPr>
              <a:t>BUILT FOR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800" b="0" i="0">
                <a:solidFill>
                  <a:srgbClr val="17130D"/>
                </a:solidFill>
                <a:latin typeface="Georgia"/>
              </a:rPr>
              <a:t>Renovation runs on a deposit and a hope.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400"/>
              </a:spcAft>
            </a:pPr>
            <a:r>
              <a:rPr sz="1600" b="0" i="0">
                <a:solidFill>
                  <a:srgbClr val="514A3C"/>
                </a:solidFill>
                <a:latin typeface="Segoe UI"/>
              </a:rPr>
              <a:t>A homeowner pays a large deposit before meaningful work exists. From that moment the contractor holds the money and the client holds the risk.</a:t>
            </a:r>
          </a:p>
          <a:p>
            <a:pPr>
              <a:lnSpc>
                <a:spcPct val="155000"/>
              </a:lnSpc>
              <a:spcAft>
                <a:spcPts val="0"/>
              </a:spcAft>
            </a:pPr>
            <a:r>
              <a:rPr sz="1600" b="0" i="0">
                <a:solidFill>
                  <a:srgbClr val="514A3C"/>
                </a:solidFill>
                <a:latin typeface="Segoe UI"/>
              </a:rPr>
              <a:t>The reliable contractor has the mirror problem. They finish the work and then wait — for a client who is slow, unhappy, or gone.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8040" y="1874519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7A2E2E"/>
                </a:solidFill>
                <a:latin typeface="Georgia"/>
              </a:rPr>
              <a:t>50%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929383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typical deposit before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any work is verified</a:t>
            </a:r>
          </a:p>
        </p:txBody>
      </p:sp>
      <p:sp>
        <p:nvSpPr>
          <p:cNvPr id="8" name="Rectangle 7"/>
          <p:cNvSpPr/>
          <p:nvPr/>
        </p:nvSpPr>
        <p:spPr>
          <a:xfrm>
            <a:off x="7178040" y="2834639"/>
            <a:ext cx="411480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3044951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7A2E2E"/>
                </a:solidFill>
                <a:latin typeface="Georgia"/>
              </a:rPr>
              <a:t>30–60d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3099815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wait for payment on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completed work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4005071"/>
            <a:ext cx="411480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4215383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7A2E2E"/>
                </a:solidFill>
                <a:latin typeface="Georgia"/>
              </a:rPr>
              <a:t>$0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4270247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recoverable when a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contractor walks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78040" y="5175503"/>
            <a:ext cx="411480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01 / 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HOW IT WORKS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0" i="0">
                <a:solidFill>
                  <a:srgbClr val="D9D3C5"/>
                </a:solidFill>
                <a:latin typeface="Georgia"/>
              </a:rPr>
              <a:t>The money moves first. Everything else is hope.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5577840" cy="786384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45720" cy="786384"/>
          </a:xfrm>
          <a:prstGeom prst="rect">
            <a:avLst/>
          </a:prstGeom>
          <a:solidFill>
            <a:srgbClr val="9B9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2231136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 spc="4">
                <a:solidFill>
                  <a:srgbClr val="D9D3C5"/>
                </a:solidFill>
                <a:latin typeface="Segoe UI"/>
              </a:rPr>
              <a:t>CLIENT FINDS CONTRACTOR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A name, a quote, a recommendation.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2889504"/>
            <a:ext cx="9525" cy="237744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234440" y="3063240"/>
            <a:ext cx="91440" cy="73152"/>
          </a:xfrm>
          <a:prstGeom prst="triangle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127248"/>
            <a:ext cx="5577840" cy="786384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127248"/>
            <a:ext cx="45720" cy="786384"/>
          </a:xfrm>
          <a:prstGeom prst="rect">
            <a:avLst/>
          </a:prstGeom>
          <a:solidFill>
            <a:srgbClr val="B0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325526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 spc="4">
                <a:solidFill>
                  <a:srgbClr val="D9D3C5"/>
                </a:solidFill>
                <a:latin typeface="Segoe UI"/>
              </a:rPr>
              <a:t>“CAN I TRUST THEM?”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No verifiable record of past performance exists.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3913632"/>
            <a:ext cx="9525" cy="237744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10800000">
            <a:off x="1234440" y="4087368"/>
            <a:ext cx="91440" cy="73152"/>
          </a:xfrm>
          <a:prstGeom prst="triangle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151376"/>
            <a:ext cx="5577840" cy="786384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151376"/>
            <a:ext cx="45720" cy="786384"/>
          </a:xfrm>
          <a:prstGeom prst="rect">
            <a:avLst/>
          </a:prstGeom>
          <a:solidFill>
            <a:srgbClr val="A2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427939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 spc="4">
                <a:solidFill>
                  <a:srgbClr val="D9D3C5"/>
                </a:solidFill>
                <a:latin typeface="Segoe UI"/>
              </a:rPr>
              <a:t>CLIENT PAYS THE DEPOSIT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Often half the contract value, up front.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937760"/>
            <a:ext cx="9525" cy="237744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10800000">
            <a:off x="1234440" y="5111496"/>
            <a:ext cx="91440" cy="73152"/>
          </a:xfrm>
          <a:prstGeom prst="triangle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5175504"/>
            <a:ext cx="5577840" cy="786384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5175504"/>
            <a:ext cx="45720" cy="78638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530352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 spc="4">
                <a:solidFill>
                  <a:srgbClr val="D9D3C5"/>
                </a:solidFill>
                <a:latin typeface="Segoe UI"/>
              </a:rPr>
              <a:t>CONTRACTOR CONTROLS THE MONEY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Incentive to start the next job, not finish this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190195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8">
                <a:solidFill>
                  <a:srgbClr val="7D766A"/>
                </a:solidFill>
                <a:latin typeface="Consolas"/>
              </a:rPr>
              <a:t>WHICH MEANS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12280" y="2212848"/>
            <a:ext cx="4206240" cy="457200"/>
          </a:xfrm>
          <a:prstGeom prst="rect">
            <a:avLst/>
          </a:prstGeom>
          <a:noFill/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13448" y="234086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May prioritise other projects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12280" y="2779776"/>
            <a:ext cx="4206240" cy="457200"/>
          </a:xfrm>
          <a:prstGeom prst="rect">
            <a:avLst/>
          </a:prstGeom>
          <a:noFill/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13448" y="290779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May cause delays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3346704"/>
            <a:ext cx="4206240" cy="457200"/>
          </a:xfrm>
          <a:prstGeom prst="rect">
            <a:avLst/>
          </a:prstGeom>
          <a:noFill/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13448" y="34747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Project may remain incomplete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12280" y="4270248"/>
            <a:ext cx="4206240" cy="1417320"/>
          </a:xfrm>
          <a:prstGeom prst="rect">
            <a:avLst/>
          </a:prstGeom>
          <a:noFill/>
          <a:ln w="9525">
            <a:solidFill>
              <a:srgbClr val="7A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13448" y="4453128"/>
            <a:ext cx="380390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950" b="0" i="0" spc="16">
                <a:solidFill>
                  <a:srgbClr val="7A2E2E"/>
                </a:solidFill>
                <a:latin typeface="Consolas"/>
              </a:rPr>
              <a:t>AND THE CLIENT IS LEFT WITH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900" b="0" i="1">
                <a:solidFill>
                  <a:srgbClr val="D9D3C5"/>
                </a:solidFill>
                <a:latin typeface="Georgia"/>
              </a:rPr>
              <a:t>crushing debt, and no roof over their head.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KIRIM  ·  CURRENT FLOW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02 /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000" b="0" i="0">
                <a:solidFill>
                  <a:srgbClr val="17130D"/>
                </a:solidFill>
                <a:latin typeface="Georgia"/>
              </a:rPr>
              <a:t>Pay on evidence, not on a promise.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 i="0">
                <a:solidFill>
                  <a:srgbClr val="514A3C"/>
                </a:solidFill>
                <a:latin typeface="Segoe UI"/>
              </a:rPr>
              <a:t>The project is broken into milestones. The client's money for each one is locked on the XRP Ledger before work starts — visible to the contractor, spendable by nobody.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 i="0">
                <a:solidFill>
                  <a:srgbClr val="514A3C"/>
                </a:solidFill>
                <a:latin typeface="Segoe UI"/>
              </a:rPr>
              <a:t>When the contractor submits evidence, an agent buys what it needs to check it, reconciles it against the agreed scope, and releases the money in about four seconds — or does not, and says exactly why.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83880" y="1920240"/>
            <a:ext cx="3200400" cy="2743200"/>
          </a:xfrm>
          <a:prstGeom prst="rect">
            <a:avLst/>
          </a:prstGeom>
          <a:solidFill>
            <a:srgbClr val="FAF6EE"/>
          </a:solidFill>
          <a:ln w="9525">
            <a:solidFill>
              <a:srgbClr val="DED7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2148840"/>
            <a:ext cx="2743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950" b="0" i="0" spc="18">
                <a:solidFill>
                  <a:srgbClr val="8C8467"/>
                </a:solidFill>
                <a:latin typeface="Consolas"/>
              </a:rPr>
              <a:t>WHAT CHANGES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8C8467"/>
                </a:solidFill>
                <a:latin typeface="Segoe UI"/>
              </a:rPr>
              <a:t>Deposit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 i="0">
                <a:solidFill>
                  <a:srgbClr val="2C5A4E"/>
                </a:solidFill>
                <a:latin typeface="Segoe UI"/>
              </a:rPr>
              <a:t>Escrowed milestone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8C8467"/>
                </a:solidFill>
                <a:latin typeface="Segoe UI"/>
              </a:rPr>
              <a:t>Trust the name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 i="0">
                <a:solidFill>
                  <a:srgbClr val="2C5A4E"/>
                </a:solidFill>
                <a:latin typeface="Segoe UI"/>
              </a:rPr>
              <a:t>Read the record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8C8467"/>
                </a:solidFill>
                <a:latin typeface="Segoe UI"/>
              </a:rPr>
              <a:t>Invoice, then wait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 i="0">
                <a:solidFill>
                  <a:srgbClr val="2C5A4E"/>
                </a:solidFill>
                <a:latin typeface="Segoe UI"/>
              </a:rPr>
              <a:t>Evidence, then paid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8C8467"/>
                </a:solidFill>
                <a:latin typeface="Segoe UI"/>
              </a:rPr>
              <a:t>Dispute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 i="0">
                <a:solidFill>
                  <a:srgbClr val="2C5A4E"/>
                </a:solidFill>
                <a:latin typeface="Segoe UI"/>
              </a:rPr>
              <a:t>Automatic return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03 / SOLUTION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THE KIRIM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 i="0">
                <a:solidFill>
                  <a:srgbClr val="D9D3C5"/>
                </a:solidFill>
                <a:latin typeface="Georgia"/>
              </a:rPr>
              <a:t>Every completed milestone makes the next one easier to win.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48840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29514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4168" y="2258568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MILESTONE AGREED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Scope, date, amount, and what counts as proof.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081528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22783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191256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CLIENT FUNDS ESCROW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Locked on XRPL under a crypto-condition.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14216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160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4123944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CONTRACTOR SUBMITS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Photographs, delivery notes, permit reference.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946904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09320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5056632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AGENT BUYS ITS CHECKS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Forensics, materials registry, site inspection — over x402.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2148840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45152" y="229514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7488" y="2258568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EVIDENCE EXAMINED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Reconciled against the agreed scope, line by line.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0" y="3081528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5E9B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2" y="322783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7488" y="3191256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RELEASED IN ~4 SECONDS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Or held, with the discrepancy named.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0" y="4014216"/>
            <a:ext cx="3246120" cy="749808"/>
          </a:xfrm>
          <a:prstGeom prst="rect">
            <a:avLst/>
          </a:prstGeom>
          <a:solidFill>
            <a:srgbClr val="1A1712"/>
          </a:solidFill>
          <a:ln w="9525">
            <a:solidFill>
              <a:srgbClr val="5E9B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45152" y="4160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5E9B79"/>
                </a:solidFill>
                <a:latin typeface="Consolas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4123944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 i="0" spc="4">
                <a:solidFill>
                  <a:srgbClr val="D9D3C5"/>
                </a:solidFill>
                <a:latin typeface="Segoe UI"/>
              </a:rPr>
              <a:t>RECORD WRITTEN ON-LEDGER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483"/>
                </a:solidFill>
                <a:latin typeface="Segoe UI"/>
              </a:rPr>
              <a:t>A credential on the contractor's own account.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80" y="2148840"/>
            <a:ext cx="3246120" cy="3703320"/>
          </a:xfrm>
          <a:prstGeom prst="rect">
            <a:avLst/>
          </a:prstGeom>
          <a:noFill/>
          <a:ln w="9525">
            <a:solidFill>
              <a:srgbClr val="5E9B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912" y="2395728"/>
            <a:ext cx="2734056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950" b="0" i="0" spc="18">
                <a:solidFill>
                  <a:srgbClr val="5E9B79"/>
                </a:solidFill>
                <a:latin typeface="Consolas"/>
              </a:rPr>
              <a:t>THE LOOP</a:t>
            </a:r>
          </a:p>
          <a:p>
            <a:pPr>
              <a:lnSpc>
                <a:spcPct val="138000"/>
              </a:lnSpc>
              <a:spcAft>
                <a:spcPts val="1400"/>
              </a:spcAft>
            </a:pPr>
            <a:r>
              <a:rPr sz="1600" b="0" i="1">
                <a:solidFill>
                  <a:srgbClr val="D9D3C5"/>
                </a:solidFill>
                <a:latin typeface="Georgia"/>
              </a:rPr>
              <a:t>Verified work becomes a verified record. A verified record wins the next client. Which is the only reason a good contractor should out-earn a bad one.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9B9483"/>
                </a:solidFill>
                <a:latin typeface="Segoe UI"/>
              </a:rPr>
              <a:t>The record lives on the contractor's XRPL account, not in our database. It is theirs, and it outlives us.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KIRIM  ·  NEW FLOW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04 / SOLUTION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HOW THE MONEY IS HELD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7130D"/>
                </a:solidFill>
                <a:latin typeface="Georgia"/>
              </a:rPr>
              <a:t>An escrow that opens for a proof, not for a clock.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5669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400"/>
              </a:spcAft>
            </a:pPr>
            <a:r>
              <a:rPr sz="1600" b="0" i="0">
                <a:solidFill>
                  <a:srgbClr val="514A3C"/>
                </a:solidFill>
                <a:latin typeface="Segoe UI"/>
              </a:rPr>
              <a:t>Funds are locked with a PREIMAGE-SHA-256 crypto-condition. Only the holder of the fulfillment can release them, and Kirim holds it until the evidence conforms.</a:t>
            </a:r>
          </a:p>
          <a:p>
            <a:pPr>
              <a:lnSpc>
                <a:spcPct val="155000"/>
              </a:lnSpc>
              <a:spcAft>
                <a:spcPts val="0"/>
              </a:spcAft>
            </a:pPr>
            <a:r>
              <a:rPr sz="1600" b="0" i="0">
                <a:solidFill>
                  <a:srgbClr val="514A3C"/>
                </a:solidFill>
                <a:latin typeface="Segoe UI"/>
              </a:rPr>
              <a:t>If nothing is ever presented, CancelAfter returns the money to the client automatically. No dispute, no lawyer, no chasing.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86600" y="1783080"/>
            <a:ext cx="4297680" cy="676656"/>
          </a:xfrm>
          <a:prstGeom prst="rect">
            <a:avLst/>
          </a:prstGeom>
          <a:solidFill>
            <a:srgbClr val="DC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06056" y="1901952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 i="0" spc="12">
                <a:solidFill>
                  <a:srgbClr val="2C5A4E"/>
                </a:solidFill>
                <a:latin typeface="Consolas"/>
              </a:rPr>
              <a:t>FUNDED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14A3C"/>
                </a:solidFill>
                <a:latin typeface="Segoe UI"/>
              </a:rPr>
              <a:t>money locked, visible to both sides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2624328"/>
            <a:ext cx="4297680" cy="676656"/>
          </a:xfrm>
          <a:prstGeom prst="rect">
            <a:avLst/>
          </a:prstGeom>
          <a:solidFill>
            <a:srgbClr val="EFE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06056" y="274320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 i="0" spc="12">
                <a:solidFill>
                  <a:srgbClr val="B07A22"/>
                </a:solidFill>
                <a:latin typeface="Consolas"/>
              </a:rPr>
              <a:t>HELD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14A3C"/>
                </a:solidFill>
                <a:latin typeface="Segoe UI"/>
              </a:rPr>
              <a:t>evidence incomplete or contradicted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86600" y="3465576"/>
            <a:ext cx="4297680" cy="676656"/>
          </a:xfrm>
          <a:prstGeom prst="rect">
            <a:avLst/>
          </a:prstGeom>
          <a:solidFill>
            <a:srgbClr val="DC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06056" y="3584448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 i="0" spc="12">
                <a:solidFill>
                  <a:srgbClr val="2C5A4E"/>
                </a:solidFill>
                <a:latin typeface="Consolas"/>
              </a:rPr>
              <a:t>RELEASED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14A3C"/>
                </a:solidFill>
                <a:latin typeface="Segoe UI"/>
              </a:rPr>
              <a:t>conforming — paid in ~4 seconds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600" y="4306824"/>
            <a:ext cx="4297680" cy="676656"/>
          </a:xfrm>
          <a:prstGeom prst="rect">
            <a:avLst/>
          </a:prstGeom>
          <a:solidFill>
            <a:srgbClr val="EFD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06056" y="4425696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 i="0" spc="12">
                <a:solidFill>
                  <a:srgbClr val="A23B2C"/>
                </a:solidFill>
                <a:latin typeface="Consolas"/>
              </a:rPr>
              <a:t>RETURNED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14A3C"/>
                </a:solidFill>
                <a:latin typeface="Segoe UI"/>
              </a:rPr>
              <a:t>nothing presented — clawed back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05 / MECHANISM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WHAT THE AGENT ACTUALLY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 i="0">
                <a:solidFill>
                  <a:srgbClr val="17130D"/>
                </a:solidFill>
                <a:latin typeface="Georgia"/>
              </a:rPr>
              <a:t>A photograph cannot be examined. A photograph with a GPS fix can.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50" b="0" i="0">
                <a:solidFill>
                  <a:srgbClr val="514A3C"/>
                </a:solidFill>
                <a:latin typeface="Segoe UI"/>
              </a:rPr>
              <a:t>Kirim does not claim to verify construction. It reconciles submitted evidence against the agreed scope and says plainly where the two disagree. The rules are deterministic; the model writes the advice, it never overturns the finding.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58775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PHOTO-GEO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26974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Photograph taken outside the site boundary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87000" y="2697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98094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0632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PHOTO-TIME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30632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Timestamp precedes the milestone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3063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34670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PHOTO-REUSED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34290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Byte-identical to an earlier submission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34290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71246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7947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MATERIALS-SHORT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947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Delivered quantity below the bill of quantities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37947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7822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1605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DELIVERY-UNVERIFIED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4160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Delivery note absent from the supplier's records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4160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44398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5262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INSPECT-INCOMPLETE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45262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Independent inspection below the release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45262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80974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8920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DEFECT-CRITICAL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3320" y="48920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Critical defect open at inspection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48920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17550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2578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SEQ-INCOMPLETE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03320" y="5257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Prior milestone not yet released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52578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7A2E2E"/>
                </a:solidFill>
                <a:latin typeface="Consolas"/>
              </a:rPr>
              <a:t>blocking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554126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6235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17130D"/>
                </a:solidFill>
                <a:latin typeface="Consolas"/>
              </a:rPr>
              <a:t>LATE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03320" y="56235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Submitted after the agreed date — recorded, not blocking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56235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B07A22"/>
                </a:solidFill>
                <a:latin typeface="Consolas"/>
              </a:rPr>
              <a:t>advisory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90702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06 / MECHANISM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THREE OUTCOMES, NOT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 i="0">
                <a:solidFill>
                  <a:srgbClr val="17130D"/>
                </a:solidFill>
                <a:latin typeface="Georgia"/>
              </a:rPr>
              <a:t>“You did not send enough” and “this does not add up” are different messages.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31720"/>
            <a:ext cx="3337560" cy="2377440"/>
          </a:xfrm>
          <a:prstGeom prst="rect">
            <a:avLst/>
          </a:prstGeom>
          <a:solidFill>
            <a:srgbClr val="DC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3337560" cy="54864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651760"/>
            <a:ext cx="27889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150" b="1" i="0" spc="14">
                <a:solidFill>
                  <a:srgbClr val="2C5A4E"/>
                </a:solidFill>
                <a:latin typeface="Consolas"/>
              </a:rPr>
              <a:t>READY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350" b="0" i="0">
                <a:solidFill>
                  <a:srgbClr val="514A3C"/>
                </a:solidFill>
                <a:latin typeface="Segoe UI"/>
              </a:rPr>
              <a:t>Evidence is consistent with the agreed scope. Released autonomously below the client's ceiling.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2331720"/>
            <a:ext cx="3337560" cy="2377440"/>
          </a:xfrm>
          <a:prstGeom prst="rect">
            <a:avLst/>
          </a:prstGeom>
          <a:solidFill>
            <a:srgbClr val="EFE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2331720"/>
            <a:ext cx="3337560" cy="54864"/>
          </a:xfrm>
          <a:prstGeom prst="rect">
            <a:avLst/>
          </a:prstGeom>
          <a:solidFill>
            <a:srgbClr val="B0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651760"/>
            <a:ext cx="27889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150" b="1" i="0" spc="14">
                <a:solidFill>
                  <a:srgbClr val="B07A22"/>
                </a:solidFill>
                <a:latin typeface="Consolas"/>
              </a:rPr>
              <a:t>MORE INFORMATION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350" b="0" i="0">
                <a:solidFill>
                  <a:srgbClr val="514A3C"/>
                </a:solidFill>
                <a:latin typeface="Segoe UI"/>
              </a:rPr>
              <a:t>Nothing contradicts the scope — the submission is simply incomplete. Funds held. No mark against the record.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2331720"/>
            <a:ext cx="3337560" cy="2377440"/>
          </a:xfrm>
          <a:prstGeom prst="rect">
            <a:avLst/>
          </a:prstGeom>
          <a:solidFill>
            <a:srgbClr val="EFD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2331720"/>
            <a:ext cx="3337560" cy="54864"/>
          </a:xfrm>
          <a:prstGeom prst="rect">
            <a:avLst/>
          </a:prstGeom>
          <a:solidFill>
            <a:srgbClr val="A2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2651760"/>
            <a:ext cx="27889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150" b="1" i="0" spc="14">
                <a:solidFill>
                  <a:srgbClr val="A23B2C"/>
                </a:solidFill>
                <a:latin typeface="Consolas"/>
              </a:rPr>
              <a:t>FLAGGED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350" b="0" i="0">
                <a:solidFill>
                  <a:srgbClr val="514A3C"/>
                </a:solidFill>
                <a:latin typeface="Segoe UI"/>
              </a:rPr>
              <a:t>Evidence contradicts the scope. Funds held, discrepancy named, client reviews.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2920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600" b="0" i="1">
                <a:solidFill>
                  <a:srgbClr val="514A3C"/>
                </a:solidFill>
                <a:latin typeface="Georgia"/>
              </a:rPr>
              <a:t>Only the third one should ever damage a contractor's track record. Most systems collapse these into a single rejection, and punish the honest contractor who forgot a photograph.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07 / MECHANISM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AUTONOMY, WITH A BRAKE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 i="0">
                <a:solidFill>
                  <a:srgbClr val="17130D"/>
                </a:solidFill>
                <a:latin typeface="Georgia"/>
              </a:rPr>
              <a:t>The agent may request a payment. Only the ledger service may send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669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550" b="0" i="0">
                <a:solidFill>
                  <a:srgbClr val="514A3C"/>
                </a:solidFill>
                <a:latin typeface="Segoe UI"/>
              </a:rPr>
              <a:t>The agent holds no wallet seed and never touches xrpl.js. Every movement of money is a request to a separate process that owns the keys, enforces the ceilings, and can refuse — and a refusal is a logged decision with a reason, not a silent no-op.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86600" y="1764791"/>
            <a:ext cx="429768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1874519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Per x402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1874519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7130D"/>
                </a:solidFill>
                <a:latin typeface="Consolas"/>
              </a:rPr>
              <a:t>US$1.00</a:t>
            </a:r>
          </a:p>
        </p:txBody>
      </p:sp>
      <p:sp>
        <p:nvSpPr>
          <p:cNvPr id="9" name="Rectangle 8"/>
          <p:cNvSpPr/>
          <p:nvPr/>
        </p:nvSpPr>
        <p:spPr>
          <a:xfrm>
            <a:off x="7086600" y="2249423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235000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Per milestone, operating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9800" y="2350007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7130D"/>
                </a:solidFill>
                <a:latin typeface="Consolas"/>
              </a:rPr>
              <a:t>US$5.00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600" y="2724911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86600" y="2825495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Autonomous release ceiling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825495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7130D"/>
                </a:solidFill>
                <a:latin typeface="Consolas"/>
              </a:rPr>
              <a:t>US$12,000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3200399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3300983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Above the ceiling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3300983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7130D"/>
                </a:solidFill>
                <a:latin typeface="Consolas"/>
              </a:rPr>
              <a:t>client authorises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86600" y="3675887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3959351"/>
            <a:ext cx="4297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 i="0">
                <a:solidFill>
                  <a:srgbClr val="6A6356"/>
                </a:solidFill>
                <a:latin typeface="Segoe UI"/>
              </a:rPr>
              <a:t>The brief names “humans approving every agent action” as an anti-pattern. A value threshold is a safeguard, not an approval queue: small milestones settle themselves, large ones ask.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08 / GOVERNANCE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THE TRACK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D9D3C5"/>
                </a:solidFill>
                <a:latin typeface="Georgia"/>
              </a:rPr>
              <a:t>A reputation you own, not a row in our database.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600"/>
              </a:spcAft>
            </a:pPr>
            <a:r>
              <a:rPr sz="1550" b="0" i="0">
                <a:solidFill>
                  <a:srgbClr val="9B9483"/>
                </a:solidFill>
                <a:latin typeface="Segoe UI"/>
              </a:rPr>
              <a:t>Every released milestone issues an XLS-70 Credential to the contractor's own XRPL account, which they accept. It is keyed to the project and milestone, so it cannot be double-counted, and any future client can verify it without asking Kirim anything.</a:t>
            </a:r>
          </a:p>
          <a:p>
            <a:pPr>
              <a:lnSpc>
                <a:spcPct val="140000"/>
              </a:lnSpc>
              <a:spcAft>
                <a:spcPts val="0"/>
              </a:spcAft>
            </a:pPr>
            <a:r>
              <a:rPr sz="1700" b="0" i="1">
                <a:solidFill>
                  <a:srgbClr val="5E9B79"/>
                </a:solidFill>
                <a:latin typeface="Georgia"/>
              </a:rPr>
              <a:t>We do not claim a credential makes a contractor trustworthy. It makes their history visible.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03720" y="1874519"/>
            <a:ext cx="4480560" cy="2834640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96328" y="2121408"/>
            <a:ext cx="39319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950" b="0" i="0" spc="18">
                <a:solidFill>
                  <a:srgbClr val="5E9B79"/>
                </a:solidFill>
                <a:latin typeface="Consolas"/>
              </a:rPr>
              <a:t>ON-LEDGER CREDENTIAL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type      </a:t>
            </a:r>
            <a:r>
              <a:rPr sz="1100">
                <a:solidFill>
                  <a:srgbClr val="D9D3C5"/>
                </a:solidFill>
                <a:latin typeface="Consolas"/>
              </a:rPr>
              <a:t>KIRIM:PRJ-2026-014:M1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subject   </a:t>
            </a:r>
            <a:r>
              <a:rPr sz="1100">
                <a:solidFill>
                  <a:srgbClr val="D9D3C5"/>
                </a:solidFill>
                <a:latin typeface="Consolas"/>
              </a:rPr>
              <a:t>rhayr2jyg…XLvv3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issuer    </a:t>
            </a:r>
            <a:r>
              <a:rPr sz="1100">
                <a:solidFill>
                  <a:srgbClr val="D9D3C5"/>
                </a:solidFill>
                <a:latin typeface="Consolas"/>
              </a:rPr>
              <a:t>rhSezETXu…b5aMF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uri       </a:t>
            </a:r>
            <a:r>
              <a:rPr sz="1100">
                <a:solidFill>
                  <a:srgbClr val="D9D3C5"/>
                </a:solidFill>
                <a:latin typeface="Consolas"/>
              </a:rPr>
              <a:t>kirim:milestone/PRJ-2026-014/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          </a:t>
            </a:r>
            <a:r>
              <a:rPr sz="1100">
                <a:solidFill>
                  <a:srgbClr val="D9D3C5"/>
                </a:solidFill>
                <a:latin typeface="Consolas"/>
              </a:rPr>
              <a:t>M1/demolition-and-disposal?onTime=1</a:t>
            </a:r>
          </a:p>
          <a:p>
            <a:pPr>
              <a:lnSpc>
                <a:spcPct val="150000"/>
              </a:lnSpc>
            </a:pPr>
            <a:r>
              <a:rPr sz="1100">
                <a:solidFill>
                  <a:srgbClr val="7D766A"/>
                </a:solidFill>
                <a:latin typeface="Consolas"/>
              </a:rPr>
              <a:t>accepted  </a:t>
            </a:r>
            <a:r>
              <a:rPr sz="1100">
                <a:solidFill>
                  <a:srgbClr val="D9D3C5"/>
                </a:solidFill>
                <a:latin typeface="Consolas"/>
              </a:rPr>
              <a:t>true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KIRIM  ·  XLS-70 CREDENTIALS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09 / TRACK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WORK DONE SO 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800" b="0" i="0">
                <a:solidFill>
                  <a:srgbClr val="17130D"/>
                </a:solidFill>
                <a:latin typeface="Georgia"/>
              </a:rPr>
              <a:t>Built and verified on XRPL testnet.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562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39112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19659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The agent plans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984248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Derives what must be established, proposes a plan, executes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61320" y="198424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34086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514600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24414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Machine Payments Protocol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459736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xrpl-mpp-sdk — real 402 challenges, settled and verified on-ledger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459736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816352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2990088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291693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Escrow with crypto-conditions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935224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EscrowCreate / EscrowFinish / EscrowCancel, PREIMAGE-SHA-256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61320" y="2935224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291840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465576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6" y="339242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XRPL AI Starter Kit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410712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Both skills, Docs MCP, SourceTag 20260530, simulate before signing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61320" y="3410712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767328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941064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6" y="38679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Client signs above the ceiling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8862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An XRPL Payment from her own wallet, verified before release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61320" y="388620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242816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4416552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6696" y="4343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XLS-70 track record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4361688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A credential on the contractor's own account, idempotent per milestone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1320" y="436168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4718304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4892040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6" y="48188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Kirim charges 0.8%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837176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A second leg on the ledger at the moment of release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61320" y="4837176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193792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5367528"/>
            <a:ext cx="54864" cy="2743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6696" y="529437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Outage fallback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5312664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Providers publish availability; the plan routes around one that is down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5312664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2C5A4E"/>
                </a:solidFill>
                <a:latin typeface="Consolas"/>
              </a:rPr>
              <a:t>done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5669280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5843016"/>
            <a:ext cx="54864" cy="274320"/>
          </a:xfrm>
          <a:prstGeom prst="rect">
            <a:avLst/>
          </a:prstGeom>
          <a:solidFill>
            <a:srgbClr val="B0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6696" y="576986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RLUSD settlement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89120" y="5788152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Issuer wired, trustlines placed — faucet claim outstanding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61320" y="5788152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B07A22"/>
                </a:solidFill>
                <a:latin typeface="Consolas"/>
              </a:rPr>
              <a:t>partial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77240" y="6144768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6318504"/>
            <a:ext cx="54864" cy="274320"/>
          </a:xfrm>
          <a:prstGeom prst="rect">
            <a:avLst/>
          </a:prstGeom>
          <a:solidFill>
            <a:srgbClr val="8C8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6696" y="62453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Agent credit, DEX leg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89120" y="626364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Claw Credit written and gated; FX quoted but not executed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61320" y="626364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 i="0" spc="10">
                <a:solidFill>
                  <a:srgbClr val="8C8467"/>
                </a:solidFill>
                <a:latin typeface="Consolas"/>
              </a:rPr>
              <a:t>next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6620256"/>
            <a:ext cx="10637215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10 / BUILT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ABOVE THE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0" i="0">
                <a:solidFill>
                  <a:srgbClr val="17130D"/>
                </a:solidFill>
                <a:latin typeface="Georgia"/>
              </a:rPr>
              <a:t>“The client approved” is a signature, not a checkbox.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5669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400"/>
              </a:spcAft>
            </a:pPr>
            <a:r>
              <a:rPr sz="1550" b="0" i="0">
                <a:solidFill>
                  <a:srgbClr val="514A3C"/>
                </a:solidFill>
                <a:latin typeface="Segoe UI"/>
              </a:rPr>
              <a:t>Below Sarah's own ceiling the agent releases on its own. Above it, the evidence is examined and the money waits for her — and approval means an XRPL payment from her own wallet carrying a memo naming the milestone.</a:t>
            </a:r>
          </a:p>
          <a:p>
            <a:pPr>
              <a:lnSpc>
                <a:spcPct val="155000"/>
              </a:lnSpc>
              <a:spcAft>
                <a:spcPts val="0"/>
              </a:spcAft>
            </a:pPr>
            <a:r>
              <a:rPr sz="1550" b="0" i="0">
                <a:solidFill>
                  <a:srgbClr val="514A3C"/>
                </a:solidFill>
                <a:latin typeface="Segoe UI"/>
              </a:rPr>
              <a:t>Crossmark and GemWallet are wired into the console. Any other wallet produces the same authorisation, so the demo does not depend on an extension being installed.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86600" y="1719072"/>
            <a:ext cx="429768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18288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The real authorisation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04120" y="1828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2C5A4E"/>
                </a:solidFill>
                <a:latin typeface="Consolas"/>
              </a:rPr>
              <a:t>accepted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7086600" y="2231136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234086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Replayed at another milestone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04120" y="234086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A23B2C"/>
                </a:solidFill>
                <a:latin typeface="Consolas"/>
              </a:rPr>
              <a:t>refused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600" y="2743200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86600" y="285292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Claimed from the contractor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4120" y="285292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A23B2C"/>
                </a:solidFill>
                <a:latin typeface="Consolas"/>
              </a:rPr>
              <a:t>refused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3255264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336499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Addressed to another account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04120" y="336499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A23B2C"/>
                </a:solidFill>
                <a:latin typeface="Consolas"/>
              </a:rPr>
              <a:t>refused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86600" y="3767328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387705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A hash that does not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04120" y="3877056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A23B2C"/>
                </a:solidFill>
                <a:latin typeface="Consolas"/>
              </a:rPr>
              <a:t>refused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86600" y="4279392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4535424"/>
            <a:ext cx="4297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 i="0">
                <a:solidFill>
                  <a:srgbClr val="8C8467"/>
                </a:solidFill>
                <a:latin typeface="Segoe UI"/>
              </a:rPr>
              <a:t>Measured against a real signature on testnet, not asserted.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11 / GOVERNANCE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600" b="0" i="0">
                <a:solidFill>
                  <a:srgbClr val="D9D3C5"/>
                </a:solidFill>
                <a:latin typeface="Georgia"/>
              </a:rPr>
              <a:t>Every payment on this slide is real.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0">
                <a:solidFill>
                  <a:srgbClr val="9B9483"/>
                </a:solidFill>
                <a:latin typeface="Segoe UI"/>
              </a:rPr>
              <a:t>XRP Ledger Testnet, from one run of all six milestones. Evidence is bought over the Machine Payments Protocol. Supply is simulated — the contractor, the photographs, the inspector. The ledger is not.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86584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M1 escrow funded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253288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DB2C321D1C41C72440227725382A8C4390F2373B196E665259E47869C3A332C7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25496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35224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MPP — evidence check 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2953512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21EF14A8EBC9925E26AB013DBD7865FC30A9656D156E84B2F4B3802AA0F32D03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46120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55848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M1 released to contractor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3374136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28F9F75CB532EFF8BBB95A50286CA5CA3196505E97B1C51F852B810162592EFA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666744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77647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Kirim's 0.8% fee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379476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AB172BC4FF2E188C4EE68C6947DB3BB5A4FB2A644A00BAE2B2E0753B502E6BA0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19709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Client signature (M5)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4215384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0DA1B8119218FE726EEC18FEE6047D7F9C1260E473042FA9034C64D0F140FA70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07992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6177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D9D3C5"/>
                </a:solidFill>
                <a:latin typeface="Segoe UI"/>
              </a:rPr>
              <a:t>M6 returned on timeout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9080" y="4636008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5E9B79"/>
                </a:solidFill>
                <a:latin typeface="Consolas"/>
              </a:rPr>
              <a:t>D55A3E67A27B20E848E79A115569F361CF2D240AAD90A293F51F17480E24C2D5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928616"/>
            <a:ext cx="10637215" cy="4762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7D766A"/>
                </a:solidFill>
                <a:latin typeface="Consolas"/>
              </a:rPr>
              <a:t>testnet.xrpl.org/transactions/&lt;hash&gt;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KIRIM  ·  XRPL TESTNET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12 / PROOF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0" i="0">
                <a:solidFill>
                  <a:srgbClr val="17130D"/>
                </a:solidFill>
                <a:latin typeface="Georgia"/>
              </a:rPr>
              <a:t>We charge for the release, because that is where the risk 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600"/>
              </a:spcAft>
            </a:pPr>
            <a:r>
              <a:rPr sz="1550" b="0" i="0">
                <a:solidFill>
                  <a:srgbClr val="514A3C"/>
                </a:solidFill>
                <a:latin typeface="Segoe UI"/>
              </a:rPr>
              <a:t>Kirim takes 0.8% of each released milestone, paid by the client at the moment of release. A licensed escrow agent charges 3–5% and takes days; a lawyer's stakeholder account costs more than the milestone.</a:t>
            </a:r>
          </a:p>
          <a:p>
            <a:pPr>
              <a:lnSpc>
                <a:spcPct val="155000"/>
              </a:lnSpc>
              <a:spcAft>
                <a:spcPts val="0"/>
              </a:spcAft>
            </a:pPr>
            <a:r>
              <a:rPr sz="1550" b="0" i="0">
                <a:solidFill>
                  <a:srgbClr val="514A3C"/>
                </a:solidFill>
                <a:latin typeface="Segoe UI"/>
              </a:rPr>
              <a:t>The evidence checks are bought per milestone at cents apiece, so the cost of assurance no longer scales with a site visit.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86600" y="1764791"/>
            <a:ext cx="4297680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1874519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Escrow agent,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1874519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17130D"/>
                </a:solidFill>
                <a:latin typeface="Consolas"/>
              </a:rPr>
              <a:t>3–5%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901951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8C8467"/>
                </a:solidFill>
                <a:latin typeface="Segoe UI"/>
              </a:rPr>
              <a:t>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86600" y="2295143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404871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Kirim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64040" y="2404871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17130D"/>
                </a:solidFill>
                <a:latin typeface="Consolas"/>
              </a:rPr>
              <a:t>0.8%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2432303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8C8467"/>
                </a:solidFill>
                <a:latin typeface="Segoe UI"/>
              </a:rPr>
              <a:t>~4 seconds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86600" y="2825495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2935223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Evidence checks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2935223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17130D"/>
                </a:solidFill>
                <a:latin typeface="Consolas"/>
              </a:rPr>
              <a:t>US$0.48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2962655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8C8467"/>
                </a:solidFill>
                <a:latin typeface="Segoe UI"/>
              </a:rPr>
              <a:t>per milestone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86600" y="3355847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3465575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On a S$50,000 renovation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3465575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17130D"/>
                </a:solidFill>
                <a:latin typeface="Consolas"/>
              </a:rPr>
              <a:t>S$400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3493007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8C8467"/>
                </a:solidFill>
                <a:latin typeface="Segoe UI"/>
              </a:rPr>
              <a:t>total fee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3886199"/>
            <a:ext cx="4297680" cy="4762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6199632"/>
            <a:ext cx="10637215" cy="4762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847" y="6327648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13 / BUSINESS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778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3400" b="0" i="0">
                <a:solidFill>
                  <a:srgbClr val="D9D3C5"/>
                </a:solidFill>
                <a:latin typeface="Georgia"/>
              </a:rPr>
              <a:t>Remove the agent and you need a
site visit for every payment.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3400" b="0" i="0">
                <a:solidFill>
                  <a:srgbClr val="5E9B79"/>
                </a:solidFill>
                <a:latin typeface="Georgia"/>
              </a:rPr>
              <a:t>Remove autonomous payment and the
escrow is just an invoice again.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5120640"/>
            <a:ext cx="10637215" cy="6350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534924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 spc="18">
                <a:solidFill>
                  <a:srgbClr val="7D766A"/>
                </a:solidFill>
                <a:latin typeface="Consolas"/>
              </a:rPr>
              <a:t>KIRIM  ·  LESS BLIND TRUST. MORE VISIBLE PROOF.</a:t>
            </a:r>
          </a:p>
        </p:txBody>
      </p:sp>
      <p:pic>
        <p:nvPicPr>
          <p:cNvPr id="6" name="Picture 5" descr="rip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5676" y="5285232"/>
            <a:ext cx="1068779" cy="2743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089644" y="5266944"/>
            <a:ext cx="9525" cy="310896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inghac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2631" y="5266944"/>
            <a:ext cx="660981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38191" y="531266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 i="0" spc="16">
                <a:solidFill>
                  <a:srgbClr val="7D766A"/>
                </a:solidFill>
                <a:latin typeface="Consolas"/>
              </a:rPr>
              <a:t>BUILT FOR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