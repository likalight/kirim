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5740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0" b="0" i="0">
                <a:solidFill>
                  <a:srgbClr val="D9D3C5"/>
                </a:solidFill>
                <a:latin typeface="Georgia"/>
              </a:rPr>
              <a:t>KIRIM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3000" b="0" i="1">
                <a:solidFill>
                  <a:srgbClr val="5E9B79"/>
                </a:solidFill>
                <a:latin typeface="Georgia"/>
              </a:rPr>
              <a:t>Trust before you build.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9B9483"/>
                </a:solidFill>
                <a:latin typeface="Segoe UI"/>
              </a:rPr>
              <a:t>Milestone payments for construction, released by an agent that examines the evidence, settled on the XRP Ledger.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SINGHACKS 2026   ·   RIPPLE   ·   AI-NATIVE BUSINESS ON XRPL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8">
                <a:solidFill>
                  <a:srgbClr val="7D766A"/>
                </a:solidFill>
                <a:latin typeface="Consolas"/>
              </a:rPr>
              <a:t>Less blind trust. More visible proof.</a:t>
            </a:r>
          </a:p>
        </p:txBody>
      </p:sp>
      <p:pic>
        <p:nvPicPr>
          <p:cNvPr id="7" name="Picture 6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676" y="5687568"/>
            <a:ext cx="1068779" cy="274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089644" y="5669280"/>
            <a:ext cx="9525" cy="3108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631" y="5669280"/>
            <a:ext cx="660981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38191" y="5715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Pre-sale runs on a deposit and a hope.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A buyer pays a deposit, and a bank pays the whole mortgage, before meaningful work exists. From that moment the developer holds the money and the buyer holds the risk.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The reliable contractor has the mirror problem. They finish the work and then wait — for a client who is slow, unhappy, or gone.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1874519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929383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typical deposit before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any work is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2834639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3044951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30–60d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3099815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wait for payment on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completed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4005071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4215383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270247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recoverable when a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contractor walks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5175503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01 /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HOW IT WORKS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D9D3C5"/>
                </a:solidFill>
                <a:latin typeface="Georgia"/>
              </a:rPr>
              <a:t>The money moves first. Everything else is hope.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45720" cy="786384"/>
          </a:xfrm>
          <a:prstGeom prst="rect">
            <a:avLst/>
          </a:prstGeom>
          <a:solidFill>
            <a:srgbClr val="9B9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231136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FINDS CONTRACTOR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A name, a quote, a recommendation.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889504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234440" y="3063240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127248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27248"/>
            <a:ext cx="45720" cy="78638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2552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“CAN I TRUST THEM?”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No verifiable record of past performance exists.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3913632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234440" y="4087368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151376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151376"/>
            <a:ext cx="45720" cy="78638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27939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PAYS THE DEPOSIT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Often half the contract value, up front.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937760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234440" y="5111496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175504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175504"/>
            <a:ext cx="45720" cy="78638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3035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CONTRACTOR CONTROLS THE MONEY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Incentive to start the next job, not finish this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9019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8">
                <a:solidFill>
                  <a:srgbClr val="7D766A"/>
                </a:solidFill>
                <a:latin typeface="Consolas"/>
              </a:rPr>
              <a:t>WHICH MEANS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2212848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23408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prioritise other projects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779776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29077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cause delays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3346704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13448" y="3474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Project may remain incomplete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4270248"/>
            <a:ext cx="4206240" cy="1417320"/>
          </a:xfrm>
          <a:prstGeom prst="rect">
            <a:avLst/>
          </a:prstGeom>
          <a:noFill/>
          <a:ln w="9525">
            <a:solidFill>
              <a:srgbClr val="7A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4453128"/>
            <a:ext cx="38039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950" b="0" i="0" spc="16">
                <a:solidFill>
                  <a:srgbClr val="7A2E2E"/>
                </a:solidFill>
                <a:latin typeface="Consolas"/>
              </a:rPr>
              <a:t>AND THE CLIENT IS LEFT WITH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 i="1">
                <a:solidFill>
                  <a:srgbClr val="D9D3C5"/>
                </a:solidFill>
                <a:latin typeface="Georgia"/>
              </a:rPr>
              <a:t>crushing debt, and no roof over their head.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CURRENT 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02 /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000" b="0" i="0">
                <a:solidFill>
                  <a:srgbClr val="17130D"/>
                </a:solidFill>
                <a:latin typeface="Georgia"/>
              </a:rPr>
              <a:t>Pay on evidence, not on a promise.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The project is broken into milestones. The client's money for each one is locked on the XRP Ledger before work starts — visible to the contractor, spendable by nobody.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When the contractor submits evidence, an agent buys what it needs to check it, reconciles it against the agreed scope, and releases the money in about four seconds — or does not, and says exactly why.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80" y="1920240"/>
            <a:ext cx="3200400" cy="27432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1488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8C8467"/>
                </a:solidFill>
                <a:latin typeface="Consolas"/>
              </a:rPr>
              <a:t>WHAT CHANGES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Deposit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Escrowed milestone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Trust the name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Read the record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Invoice, then wait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Evidence, then paid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Dispute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Automatic return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03 /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KIRIM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D9D3C5"/>
                </a:solidFill>
                <a:latin typeface="Georgia"/>
              </a:rPr>
              <a:t>Every completed milestone makes the next one easier to win.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MILESTONE AGREED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Scope, date, amount, and what counts as proof.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CLIENT FUNDS ESCROW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Locked on XRPL under a crypto-condition.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CONTRACTOR SUBMITS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Photographs, delivery notes, permit reference.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946904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0932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5663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AGENT BUYS ITS CHECKS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Forensics, materials registry, site inspection — over x402.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EVIDENCE EXAMINED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Reconciled against the agreed scope, line by 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RELEASED IN ~4 SECONDS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Or held, with the discrepancy named.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RECORD WRITTEN ON-LEDGER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A credential on the contractor's own account.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2148840"/>
            <a:ext cx="3246120" cy="3703320"/>
          </a:xfrm>
          <a:prstGeom prst="rect">
            <a:avLst/>
          </a:prstGeom>
          <a:noFill/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2395728"/>
            <a:ext cx="2734056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THE LOOP</a:t>
            </a:r>
          </a:p>
          <a:p>
            <a:pPr>
              <a:lnSpc>
                <a:spcPct val="138000"/>
              </a:lnSpc>
              <a:spcAft>
                <a:spcPts val="1400"/>
              </a:spcAft>
            </a:pPr>
            <a:r>
              <a:rPr sz="1600" b="0" i="1">
                <a:solidFill>
                  <a:srgbClr val="D9D3C5"/>
                </a:solidFill>
                <a:latin typeface="Georgia"/>
              </a:rPr>
              <a:t>Verified work becomes a verified record. A verified record wins the next client. Which is the only reason a good contractor should out-earn a bad one.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The record lives on the contractor's XRPL account, not in our database. It is theirs, and it outlives us.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NEW 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04 /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HOW THE MONEY IS HELD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An escrow that opens for a proof, not for a clock.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Funds are locked with a PREIMAGE-SHA-256 crypto-condition. Only the holder of the fulfillment can release them, and Kirim holds it until the evidence conforms.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If nothing is ever presented, CancelAfter returns the money to the client automatically. No dispute, no lawyer, no chasing.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83080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06056" y="190195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FUNDED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money locked, visible to both sides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2624328"/>
            <a:ext cx="4297680" cy="676656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06056" y="2743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B07A22"/>
                </a:solidFill>
                <a:latin typeface="Consolas"/>
              </a:rPr>
              <a:t>HELD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evidence incomplete or contradicted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3465576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06056" y="35844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RELEASED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conforming — paid in ~4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4306824"/>
            <a:ext cx="4297680" cy="676656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6056" y="44256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A23B2C"/>
                </a:solidFill>
                <a:latin typeface="Consolas"/>
              </a:rPr>
              <a:t>RETURNED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nothing presented — clawed 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05 / MECHANISM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WHAT THE AGENT ACTUALLY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A photograph cannot be examined. A photograph with a GPS fix can.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0" i="0">
                <a:solidFill>
                  <a:srgbClr val="514A3C"/>
                </a:solidFill>
                <a:latin typeface="Segoe UI"/>
              </a:rPr>
              <a:t>Kirim does not claim to verify construction. It reconciles submitted evidence against the agreed scope and says plainly where the two disagree. The rules are deterministic; the model writes the advice, it never overturns the 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8775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PHOTO-GEO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697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Photograph taken outside the site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809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Timestamp precedes the milestone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3063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467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PHOTO-REUSED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429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Byte-identical to an earlier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124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MATERIALS-SHORT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94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Delivered quantity below the bill of quantities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3794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782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60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DELIVERY-UNVERIFIED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160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Delivery note absent from the supplier's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4160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44398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INSPECT-INCOMPLETE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526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Independent inspection below the release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097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DEFECT-CRITICAL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892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Critical defect open at inspection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4892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1755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57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SEQ-INCOMPLETE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5257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Prior milestone not yet released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5257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5412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6235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56235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Submitted after the agreed date — recorded, not blocking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5623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B07A22"/>
                </a:solidFill>
                <a:latin typeface="Consolas"/>
              </a:rPr>
              <a:t>advisory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9070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06 / MECHANISM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THREE OUTCOMES, NOT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“You did not send enough” and “this does not add up” are different messages.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3337560" cy="2377440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3337560" cy="54864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2C5A4E"/>
                </a:solidFill>
                <a:latin typeface="Consolas"/>
              </a:rPr>
              <a:t>READY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is consistent with the agreed scope. Released autonomously below the client's ceiling.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331720"/>
            <a:ext cx="3337560" cy="2377440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2331720"/>
            <a:ext cx="3337560" cy="5486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B07A22"/>
                </a:solidFill>
                <a:latin typeface="Consolas"/>
              </a:rPr>
              <a:t>MORE INFORMATION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Nothing contradicts the scope — the submission is simply incomplete. Funds held. No mark against the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331720"/>
            <a:ext cx="3337560" cy="2377440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331720"/>
            <a:ext cx="3337560" cy="5486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A23B2C"/>
                </a:solidFill>
                <a:latin typeface="Consolas"/>
              </a:rPr>
              <a:t>FLAGGED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contradicts the scope. Funds held, discrepancy named, client reviews.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 i="1">
                <a:solidFill>
                  <a:srgbClr val="514A3C"/>
                </a:solidFill>
                <a:latin typeface="Georgia"/>
              </a:rPr>
              <a:t>Only the third one should ever damage a contractor's track record. Most systems collapse these into a single rejection, and punish the honest contractor who forgot a photograph.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07 / MECHANISM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AUTONOMY, WITH A BRAKE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The agent may request a payment. Only the ledger service may send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agent holds no wallet seed and never touches xrpl.js. Every movement of money is a request to a separate process that owns the keys, enforces the ceilings, and can refuse — and a refusal is a logged decision with a reason, not a silent no-op.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x402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874519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US$1.00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224942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35000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milestone,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350007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US$5.00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2724911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82549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Autonomous release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825495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US$12,000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32003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300983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Above the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300983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client authorises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67588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959351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The brief names “humans approving every agent action” as an anti-pattern. A value threshold is a safeguard, not an approval queue: small milestones settle themselves, large ones ask.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08 / GOVERNANCE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A reputation you own, not a row in our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9B9483"/>
                </a:solidFill>
                <a:latin typeface="Segoe UI"/>
              </a:rPr>
              <a:t>Every released milestone issues an XLS-70 Credential to the contractor's own XRPL account, which they accept. It is keyed to the project and milestone, so it cannot be double-counted, and any future client can verify it without asking Kirim anything.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700" b="0" i="1">
                <a:solidFill>
                  <a:srgbClr val="5E9B79"/>
                </a:solidFill>
                <a:latin typeface="Georgia"/>
              </a:rPr>
              <a:t>We do not claim a credential makes a contractor trustworthy. It makes their history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874519"/>
            <a:ext cx="4480560" cy="283464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96328" y="2121408"/>
            <a:ext cx="39319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ON-LEDGER CREDENTIAL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type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KIRIM:PRJ-2026-014:M1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subject   </a:t>
            </a:r>
            <a:r>
              <a:rPr sz="1100">
                <a:solidFill>
                  <a:srgbClr val="D9D3C5"/>
                </a:solidFill>
                <a:latin typeface="Consolas"/>
              </a:rPr>
              <a:t>rhayr2jyg…XLvv3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issuer    </a:t>
            </a:r>
            <a:r>
              <a:rPr sz="1100">
                <a:solidFill>
                  <a:srgbClr val="D9D3C5"/>
                </a:solidFill>
                <a:latin typeface="Consolas"/>
              </a:rPr>
              <a:t>rhSezETXu…b5aMF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uri 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kirim:milestone/PRJ-2026-014/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          </a:t>
            </a:r>
            <a:r>
              <a:rPr sz="1100">
                <a:solidFill>
                  <a:srgbClr val="D9D3C5"/>
                </a:solidFill>
                <a:latin typeface="Consolas"/>
              </a:rPr>
              <a:t>M1/demolition-and-disposal?onTime=1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accepted  </a:t>
            </a:r>
            <a:r>
              <a:rPr sz="1100">
                <a:solidFill>
                  <a:srgbClr val="D9D3C5"/>
                </a:solidFill>
                <a:latin typeface="Consolas"/>
              </a:rPr>
              <a:t>true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XLS-70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09 / TRACK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WORK DONE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Built and verified on XRPL testnet.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3911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The agent plans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8424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Derives what must be established, proposes a plan, executes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9842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408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514600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Machine Payments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45973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xrpl-mpp-sdk — real 402 challenges, settled and verified on-ledger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45973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1635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90088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29169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Escrow with crypto-conditions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3522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EscrowCreate / EscrowFinish / EscrowCancel, PREIMAGE-SHA-256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9352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9184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65576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" y="33924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XRPL AI Starter 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410712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Both skills, Docs MCP, SourceTag 20260530, simulate before signing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341071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767328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941064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867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Client signs above the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86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An XRPL Payment from her own wallet, verified before 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38862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42816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41655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" y="4343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XLS-70 track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36168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 credential on the contractor's own account, idempotent per milestone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43616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7183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892040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18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Kirim charges 0.8%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83717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 second leg on the ledger at the moment of release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83717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19379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367528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" y="52943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Outage fallback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31266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Providers publish availability; the plan routes around one that is down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531266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66928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843016"/>
            <a:ext cx="54864" cy="274320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6" y="5769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RLUSD settlement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788152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Issuer wired, trustlines placed — faucet claim outstanding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61320" y="578815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B07A22"/>
                </a:solidFill>
                <a:latin typeface="Consolas"/>
              </a:rPr>
              <a:t>partial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6144768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6318504"/>
            <a:ext cx="54864" cy="274320"/>
          </a:xfrm>
          <a:prstGeom prst="rect">
            <a:avLst/>
          </a:prstGeom>
          <a:solidFill>
            <a:srgbClr val="8C8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" y="6245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Agent credit, DEX leg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62636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Claw Credit written and gated; FX quoted but not executed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61320" y="62636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8C8467"/>
                </a:solidFill>
                <a:latin typeface="Consolas"/>
              </a:rPr>
              <a:t>next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6620256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10 / BUILT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ABOVE THE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7130D"/>
                </a:solidFill>
                <a:latin typeface="Georgia"/>
              </a:rPr>
              <a:t>“The buyer approved” is a signature, not a checkbox.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Below the buyer's own ceiling the agent releases on its own. Above it, the evidence is examined and the money waits for her — and approval means an XRPL payment from her own wallet carrying a memo naming the milestone.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Crossmark and GemWallet are wired into the console. Any other wallet produces the same authorisation, so the demo does not depend on an extension being installed.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19072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28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The real authorisation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412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2C5A4E"/>
                </a:solidFill>
                <a:latin typeface="Consolas"/>
              </a:rPr>
              <a:t>accepted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2231136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3408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Replayed at another milestone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4120" y="234086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2743200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Claimed from the contractor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529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3255264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36499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Addressed to another account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33649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767328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8770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 hash that does not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38770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4279392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4535424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8C8467"/>
                </a:solidFill>
                <a:latin typeface="Segoe UI"/>
              </a:rPr>
              <a:t>Measured against a real signature on testnet, not asserted.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11 / GOVERNANCE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600" b="0" i="0">
                <a:solidFill>
                  <a:srgbClr val="D9D3C5"/>
                </a:solidFill>
                <a:latin typeface="Georgia"/>
              </a:rPr>
              <a:t>Every payment on this slide is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9B9483"/>
                </a:solidFill>
                <a:latin typeface="Segoe UI"/>
              </a:rPr>
              <a:t>XRP Ledger Testnet, from one run of all six milestones. Evidence is bought over the Machine Payments Protocol. Supply is simulated — the contractor, the photographs, the inspector. The ledger is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8658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escrow funded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53288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DB2C321D1C41C72440227725382A8C4390F2373B196E665259E47869C3A332C7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2549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352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MPP — evidence check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953512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21EF14A8EBC9925E26AB013DBD7865FC30A9656D156E84B2F4B3802AA0F32D03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46120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5584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released to contractor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37413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28F9F75CB532EFF8BBB95A50286CA5CA3196505E97B1C51F852B810162592EFA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6674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7647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Kirim's 0.8% fee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79476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AB172BC4FF2E188C4EE68C6947DB3BB5A4FB2A644A00BAE2B2E0753B502E6BA0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9709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Client signature (M5)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421538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0DA1B8119218FE726EEC18FEE6047D7F9C1260E473042FA9034C64D0F140FA70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07992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M6 returned on timeout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6360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D55A3E67A27B20E848E79A115569F361CF2D240AAD90A293F51F17480E24C2D5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92861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testnet.xrpl.org/transactions/&lt;hash&gt;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XRPL TESTNET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12 / PROOF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7130D"/>
                </a:solidFill>
                <a:latin typeface="Georgia"/>
              </a:rPr>
              <a:t>We charge for the release, because that is where the risk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Kirim takes 0.8% of each released milestone, paid by the client at the moment of release. A licensed escrow agent charges 3–5% and takes days; a lawyer's stakeholder account costs more than the milestone.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evidence checks are bought per milestone at cents apiece, so the cost of assurance no longer scales with a site visit.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Escrow agent,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1874519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3–5%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901951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229514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Kirim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404871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432303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~4 seconds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825495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935223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Evidence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35223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US$0.48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2962655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per stage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35584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4655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On a US$280,000 apartment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465575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US$2,240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349300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across six stages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38861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13 / BUSINESS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778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Remove the agent and you need a
site visit for every payment.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3400" b="0" i="0">
                <a:solidFill>
                  <a:srgbClr val="5E9B79"/>
                </a:solidFill>
                <a:latin typeface="Georgia"/>
              </a:rPr>
              <a:t>Remove autonomous payment and the
escrow is just an invoice again.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12064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3492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18">
                <a:solidFill>
                  <a:srgbClr val="7D766A"/>
                </a:solidFill>
                <a:latin typeface="Consolas"/>
              </a:rPr>
              <a:t>KIRIM  ·  LESS BLIND TRUST. MORE VISIBLE PROOF.</a:t>
            </a:r>
          </a:p>
        </p:txBody>
      </p:sp>
      <p:pic>
        <p:nvPicPr>
          <p:cNvPr id="6" name="Picture 5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676" y="5285232"/>
            <a:ext cx="1068779" cy="274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089644" y="5266944"/>
            <a:ext cx="9525" cy="3108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631" y="5266944"/>
            <a:ext cx="660981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38191" y="53126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